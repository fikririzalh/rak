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4" r:id="rId7"/>
    <p:sldId id="265" r:id="rId8"/>
    <p:sldId id="263" r:id="rId9"/>
    <p:sldId id="259" r:id="rId10"/>
    <p:sldId id="266" r:id="rId11"/>
    <p:sldId id="260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4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BEB4-404A-9FE1-7A5E-191E39041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6C688-1B00-73B2-FB7E-107E2177A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31395-6F23-7FED-CF7E-AA718DCC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489DF-D5C2-B53D-FB27-401119AF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D2577-A705-6DF4-947A-5596C819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109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D61D-7E24-2179-DD41-ED832E7F0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5F4C-749D-F79F-2E76-33787A2F6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8BC86-0461-CEFE-6816-32F05DFC3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48491-E184-EE75-75B4-9277BEB8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C3142-108F-1964-E243-4EC70A1F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157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52323-8E53-11D0-8A56-45532F4B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340DE-FD27-7A69-186F-82401B9C3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B8EC-77BE-7A19-0080-7DB73BCE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D920B-0281-1E09-E967-60C66835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D50CC-D236-40F8-2781-4EA8B2A1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95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BE00-FCEB-CCDB-828B-AFE6CB90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62B02-6432-CD05-2BFB-E44C6D157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E003F-C07C-1DB7-AD0E-2E743674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36515-8858-9E8E-2C40-618C72E4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CF2FA-3901-B0CD-A5F8-6245C161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6C2C-8BF7-711C-9BF8-48A5569C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308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682B-11CA-AC58-1F01-F9F15D2C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ED6B3-7AA3-F984-92DF-73D64F89E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5B99C-1FDD-C9E7-2E26-263CEAD95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9AE66-9A86-259E-CEA6-E2E280BF9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E8BBC-1B78-C588-2EFE-090647B56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8CF96-6992-1377-911D-42C3CC0F9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54B957-86FE-DA31-86F2-7BAECBC5C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AC6AC-3CEA-2386-9495-3F62522A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2088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243E5-3FAF-9715-38EF-3E9C010C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1F280-70D9-F59D-4742-CD44744D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DA14F-0B8F-AC5F-02BC-23633C22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6B5A5-C79F-0DF7-8004-BB4CE3D1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515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E46E16-74DE-CD78-9448-D53699C29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87D7E-408F-A4C6-DF37-A929F7E62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A12B4-92F4-2E40-3067-17126D1F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244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DBE0-EFB2-FE97-B958-4DD12C7E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A6F94-B9C9-E5E3-C680-C25893B2B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555E5-9066-A775-DB36-1D4FB1509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B5A62-7116-27AD-8638-AEF02BD8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B8665-C2ED-D3A5-B722-E1A3220C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5DDAC-9CEB-A24E-889A-C5823448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602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3D15-9D5D-D427-07FE-D8A788F4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B521F9-740E-FFB0-7BD3-D9F518D8E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18728-AFB4-C139-CC20-045182AC8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88731-350D-2F9F-451C-12F7E615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FBD39-16E2-EEB6-6A82-73C3224D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8E594-86CB-D255-5D94-EEDDA48E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838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6546-DA90-A13E-75BD-B66D06FEC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3F94F-6728-A1F0-D6FD-AD03DBB40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BDB2-EC17-73E0-E15D-33C126CC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94C98-222E-0BF3-AEBD-FEC37B93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15589-EA36-DC9D-989F-F0726313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990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1D7DC-8978-F0AC-D1B4-5F7F8C38B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A1874-B178-D14F-F43B-BEA16602D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06241-5CF4-5FE6-95F0-85CD9043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3F4C9-57B9-1D1F-CEEB-26DACBCF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D733E-79D0-71B8-B663-18FA7998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618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5DA90-C255-8B53-A8FE-B656C703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E5598-87EC-43BD-9E61-D3C601FF0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2E573-E706-D553-0AB3-013597150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CCC8E-5129-4307-A8D9-4C6D0E0E6B83}" type="datetimeFigureOut">
              <a:rPr lang="en-ID" smtClean="0"/>
              <a:t>06/04/2026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FEC27-0D0B-9BAC-62AD-40D47D3CD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2B900-CF84-F97C-5F42-35FC4E90E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02711-425E-41B6-9EF4-B2036E6B18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624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DCCD-9183-6AC9-356D-7FDDB87225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PEMBUATAN PROPOSAL 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7A781-3744-3001-F594-3E3BBC9AE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RUMUSAN MASALAH, TUJUAN, BATASAN MASALAH, MANFAAT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18287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FEC2-A67F-930A-866B-B2E21043D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RUMUSAN MASALAH (RESEARCH QUESTIONS)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8437E-B8D8-12EF-211A-865DAEFBA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b="1" dirty="0" err="1">
                <a:latin typeface="+mj-lt"/>
              </a:rPr>
              <a:t>Menurut</a:t>
            </a:r>
            <a:r>
              <a:rPr lang="en-ID" b="1" dirty="0">
                <a:latin typeface="+mj-lt"/>
              </a:rPr>
              <a:t> Ahli </a:t>
            </a:r>
            <a:r>
              <a:rPr lang="en-ID" b="1" dirty="0" err="1">
                <a:latin typeface="+mj-lt"/>
              </a:rPr>
              <a:t>Sugiyono</a:t>
            </a:r>
            <a:r>
              <a:rPr lang="en-ID" dirty="0">
                <a:latin typeface="+mj-lt"/>
              </a:rPr>
              <a:t>, </a:t>
            </a:r>
            <a:r>
              <a:rPr lang="en-ID" dirty="0" err="1">
                <a:latin typeface="+mj-lt"/>
              </a:rPr>
              <a:t>pengertian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  </a:t>
            </a:r>
            <a:r>
              <a:rPr lang="en-ID" dirty="0" err="1">
                <a:latin typeface="+mj-lt"/>
              </a:rPr>
              <a:t>pertanyaan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mencari</a:t>
            </a:r>
            <a:r>
              <a:rPr lang="en-ID" dirty="0">
                <a:latin typeface="+mj-lt"/>
              </a:rPr>
              <a:t>  </a:t>
            </a:r>
            <a:r>
              <a:rPr lang="en-ID" dirty="0" err="1">
                <a:latin typeface="+mj-lt"/>
              </a:rPr>
              <a:t>jawaban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melalui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pengumpulan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kajian</a:t>
            </a:r>
            <a:r>
              <a:rPr lang="en-ID" dirty="0">
                <a:latin typeface="+mj-lt"/>
              </a:rPr>
              <a:t> data.</a:t>
            </a:r>
          </a:p>
          <a:p>
            <a:pPr algn="just"/>
            <a:r>
              <a:rPr lang="en-ID" b="1" dirty="0">
                <a:latin typeface="+mj-lt"/>
              </a:rPr>
              <a:t>Sutrisno Hadi </a:t>
            </a:r>
            <a:r>
              <a:rPr lang="en-ID" b="1" dirty="0" err="1">
                <a:latin typeface="+mj-lt"/>
              </a:rPr>
              <a:t>mengemukakan</a:t>
            </a:r>
            <a:r>
              <a:rPr lang="en-ID" b="1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pandangan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bahwa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munculnya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fakta-fakta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menimbulkan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pertanyaan</a:t>
            </a:r>
            <a:r>
              <a:rPr lang="en-ID" dirty="0">
                <a:latin typeface="+mj-lt"/>
              </a:rPr>
              <a:t>. </a:t>
            </a:r>
          </a:p>
          <a:p>
            <a:pPr algn="just"/>
            <a:r>
              <a:rPr lang="en-ID" b="1" dirty="0" err="1">
                <a:latin typeface="+mj-lt"/>
              </a:rPr>
              <a:t>Yenrizal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menyatakan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bahwa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ini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sebuah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pertanyaan</a:t>
            </a:r>
            <a:r>
              <a:rPr lang="en-ID" dirty="0">
                <a:latin typeface="+mj-lt"/>
              </a:rPr>
              <a:t>, yang  </a:t>
            </a:r>
            <a:r>
              <a:rPr lang="en-ID" dirty="0" err="1">
                <a:latin typeface="+mj-lt"/>
              </a:rPr>
              <a:t>kemudian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coba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dijawab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dengan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terstruktur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dilakukan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secara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sistematis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objektif</a:t>
            </a:r>
            <a:r>
              <a:rPr lang="en-ID" dirty="0">
                <a:latin typeface="+mj-lt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85951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0335-8E5F-2BA7-1B90-168BEDAF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371E-661E-42DC-C4A9-808204CE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RUMUSAN MASALAH (RESEARCH QUESTIONS)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BA29A1-7666-9BB4-FF55-B1EB5F75E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ID" dirty="0">
                <a:latin typeface="+mj-lt"/>
              </a:rPr>
              <a:t>Ciri-</a:t>
            </a:r>
            <a:r>
              <a:rPr lang="en-ID" dirty="0" err="1">
                <a:latin typeface="+mj-lt"/>
              </a:rPr>
              <a:t>ciri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, </a:t>
            </a:r>
            <a:r>
              <a:rPr lang="en-ID" dirty="0" err="1">
                <a:latin typeface="+mj-lt"/>
              </a:rPr>
              <a:t>yaitu</a:t>
            </a:r>
            <a:r>
              <a:rPr lang="en-ID" dirty="0">
                <a:latin typeface="+mj-lt"/>
              </a:rPr>
              <a:t>: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ID" dirty="0">
                <a:latin typeface="+mj-lt"/>
              </a:rPr>
              <a:t>Berupa </a:t>
            </a:r>
            <a:r>
              <a:rPr lang="en-ID" dirty="0" err="1">
                <a:latin typeface="+mj-lt"/>
              </a:rPr>
              <a:t>pertanyaan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singkat</a:t>
            </a:r>
            <a:r>
              <a:rPr lang="en-ID" dirty="0">
                <a:latin typeface="+mj-lt"/>
              </a:rPr>
              <a:t>, </a:t>
            </a:r>
            <a:r>
              <a:rPr lang="en-ID" dirty="0" err="1">
                <a:latin typeface="+mj-lt"/>
              </a:rPr>
              <a:t>jelas</a:t>
            </a:r>
            <a:r>
              <a:rPr lang="en-ID" dirty="0">
                <a:latin typeface="+mj-lt"/>
              </a:rPr>
              <a:t>, dan </a:t>
            </a:r>
            <a:r>
              <a:rPr lang="en-ID" dirty="0" err="1">
                <a:latin typeface="+mj-lt"/>
              </a:rPr>
              <a:t>padat</a:t>
            </a:r>
            <a:endParaRPr lang="en-ID" dirty="0">
              <a:latin typeface="+mj-lt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D" dirty="0" err="1">
                <a:latin typeface="+mj-lt"/>
              </a:rPr>
              <a:t>Memberikan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arah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suatu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endParaRPr lang="en-ID" dirty="0">
              <a:latin typeface="+mj-lt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D" dirty="0" err="1">
                <a:latin typeface="+mj-lt"/>
              </a:rPr>
              <a:t>Memiliki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nilai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endParaRPr lang="en-ID" dirty="0">
              <a:latin typeface="+mj-lt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D" dirty="0" err="1">
                <a:latin typeface="+mj-lt"/>
              </a:rPr>
              <a:t>Dibuat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dalam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kalimat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tanya</a:t>
            </a:r>
            <a:endParaRPr lang="en-ID" dirty="0">
              <a:latin typeface="+mj-lt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dicari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sesuai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dengan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kemampuan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penelitinya</a:t>
            </a:r>
            <a:endParaRPr lang="en-ID" dirty="0">
              <a:latin typeface="+mj-lt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ID" dirty="0" err="1">
                <a:latin typeface="+mj-lt"/>
              </a:rPr>
              <a:t>Langsung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terarah</a:t>
            </a:r>
            <a:r>
              <a:rPr lang="en-ID" dirty="0">
                <a:latin typeface="+mj-lt"/>
              </a:rPr>
              <a:t> pada </a:t>
            </a:r>
            <a:r>
              <a:rPr lang="en-ID" dirty="0" err="1">
                <a:latin typeface="+mj-lt"/>
              </a:rPr>
              <a:t>topik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pembahasan</a:t>
            </a:r>
            <a:endParaRPr lang="en-ID" dirty="0">
              <a:latin typeface="+mj-lt"/>
            </a:endParaRPr>
          </a:p>
          <a:p>
            <a:pPr marL="514350" indent="-514350" fontAlgn="base">
              <a:buFont typeface="+mj-lt"/>
              <a:buAutoNum type="arabicPeriod"/>
            </a:pPr>
            <a:endParaRPr lang="en-ID" dirty="0">
              <a:latin typeface="+mj-lt"/>
            </a:endParaRPr>
          </a:p>
          <a:p>
            <a:pPr marL="0" indent="0">
              <a:buNone/>
            </a:pPr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327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EE95-2D47-202A-7570-F6DE39F9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7532-64C4-6046-AA95-63B7E854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RUMUSAN MASALAH (RESEARCH QUESTIONS)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B44F80-8670-9FAC-BC55-42E7EA27B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Jenis </a:t>
            </a:r>
            <a:r>
              <a:rPr lang="en-US" b="1" dirty="0" err="1">
                <a:latin typeface="+mj-lt"/>
              </a:rPr>
              <a:t>Rumusan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Masalah</a:t>
            </a:r>
            <a:r>
              <a:rPr lang="en-US" b="1" dirty="0">
                <a:latin typeface="+mj-lt"/>
              </a:rPr>
              <a:t>: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latin typeface="+mj-lt"/>
              </a:rPr>
              <a:t>Rumusan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Masalah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Komparatif</a:t>
            </a:r>
            <a:endParaRPr lang="en-US" b="1" dirty="0">
              <a:latin typeface="+mj-lt"/>
            </a:endParaRPr>
          </a:p>
          <a:p>
            <a:pPr marL="0" indent="0" algn="just">
              <a:buNone/>
            </a:pP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komparatif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jenis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berfokus</a:t>
            </a:r>
            <a:r>
              <a:rPr lang="en-ID" dirty="0">
                <a:latin typeface="+mj-lt"/>
              </a:rPr>
              <a:t> pada </a:t>
            </a:r>
            <a:r>
              <a:rPr lang="en-ID" dirty="0" err="1">
                <a:latin typeface="+mj-lt"/>
              </a:rPr>
              <a:t>perbandingan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antara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variabel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satu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dengan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variabel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lainnya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beberapa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variabel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lainnya</a:t>
            </a:r>
            <a:r>
              <a:rPr lang="en-ID" dirty="0">
                <a:latin typeface="+mj-lt"/>
              </a:rPr>
              <a:t>. </a:t>
            </a:r>
            <a:r>
              <a:rPr lang="en-ID" dirty="0" err="1">
                <a:latin typeface="+mj-lt"/>
              </a:rPr>
              <a:t>Berikut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ini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contoh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komparatif</a:t>
            </a:r>
            <a:r>
              <a:rPr lang="en-ID" dirty="0">
                <a:latin typeface="+mj-lt"/>
              </a:rPr>
              <a:t>.</a:t>
            </a:r>
          </a:p>
          <a:p>
            <a:pPr algn="just" fontAlgn="base"/>
            <a:r>
              <a:rPr lang="en-ID" dirty="0" err="1">
                <a:latin typeface="+mj-lt"/>
              </a:rPr>
              <a:t>Apakah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perbedaan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motivasi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kerja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antara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pegawai</a:t>
            </a:r>
            <a:r>
              <a:rPr lang="en-ID" dirty="0">
                <a:latin typeface="+mj-lt"/>
              </a:rPr>
              <a:t> negeri </a:t>
            </a:r>
            <a:r>
              <a:rPr lang="en-ID" dirty="0" err="1">
                <a:latin typeface="+mj-lt"/>
              </a:rPr>
              <a:t>dengan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karyawan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swasta</a:t>
            </a:r>
            <a:r>
              <a:rPr lang="en-ID" dirty="0">
                <a:latin typeface="+mj-lt"/>
              </a:rPr>
              <a:t>?</a:t>
            </a:r>
          </a:p>
          <a:p>
            <a:pPr algn="just" fontAlgn="base"/>
            <a:r>
              <a:rPr lang="en-ID" dirty="0" err="1">
                <a:latin typeface="+mj-lt"/>
              </a:rPr>
              <a:t>Apakah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peluang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karir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latar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belakang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perguruan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tinggi</a:t>
            </a:r>
            <a:r>
              <a:rPr lang="en-ID" dirty="0">
                <a:latin typeface="+mj-lt"/>
              </a:rPr>
              <a:t> negeri </a:t>
            </a:r>
            <a:r>
              <a:rPr lang="en-ID" dirty="0" err="1">
                <a:latin typeface="+mj-lt"/>
              </a:rPr>
              <a:t>lebih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menjanjikan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daripada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perguruan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tinggi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swasta</a:t>
            </a:r>
            <a:r>
              <a:rPr lang="en-ID" dirty="0">
                <a:latin typeface="+mj-lt"/>
              </a:rPr>
              <a:t>?</a:t>
            </a: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8066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A19F-109C-9FBA-0A9F-AEF4DCC0F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RUMUSAN MASALAH (RESEARCH QUESTIONS)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697EF-2547-DDF6-9365-083879F3F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2. </a:t>
            </a:r>
            <a:r>
              <a:rPr lang="en-US" b="1" dirty="0" err="1">
                <a:latin typeface="+mj-lt"/>
              </a:rPr>
              <a:t>Rumusan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Masalah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Asosiatif</a:t>
            </a:r>
            <a:endParaRPr lang="en-US" b="1" dirty="0">
              <a:latin typeface="+mj-lt"/>
            </a:endParaRPr>
          </a:p>
          <a:p>
            <a:pPr marL="0" indent="0" algn="just" fontAlgn="base">
              <a:buNone/>
            </a:pP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asosiatif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jenis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dibuat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mengetahui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keterkaitan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antara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hubungan</a:t>
            </a:r>
            <a:r>
              <a:rPr lang="en-ID" dirty="0">
                <a:latin typeface="+mj-lt"/>
              </a:rPr>
              <a:t> dua </a:t>
            </a:r>
            <a:r>
              <a:rPr lang="en-ID" dirty="0" err="1">
                <a:latin typeface="+mj-lt"/>
              </a:rPr>
              <a:t>variabel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lebih</a:t>
            </a:r>
            <a:r>
              <a:rPr lang="en-ID" dirty="0">
                <a:latin typeface="+mj-lt"/>
              </a:rPr>
              <a:t>. </a:t>
            </a:r>
            <a:r>
              <a:rPr lang="en-ID" dirty="0" err="1">
                <a:latin typeface="+mj-lt"/>
              </a:rPr>
              <a:t>Contoh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rumusan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asosiatif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sebagai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berikut</a:t>
            </a:r>
            <a:r>
              <a:rPr lang="en-ID" dirty="0">
                <a:latin typeface="+mj-lt"/>
              </a:rPr>
              <a:t>.</a:t>
            </a:r>
          </a:p>
          <a:p>
            <a:pPr algn="just" fontAlgn="base"/>
            <a:r>
              <a:rPr lang="en-ID" dirty="0" err="1">
                <a:latin typeface="+mj-lt"/>
              </a:rPr>
              <a:t>Apakah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hubungannya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antara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jajanan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anak-anak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dengan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tumbuh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kembang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anak</a:t>
            </a:r>
            <a:r>
              <a:rPr lang="en-ID" dirty="0">
                <a:latin typeface="+mj-lt"/>
              </a:rPr>
              <a:t>?</a:t>
            </a:r>
          </a:p>
          <a:p>
            <a:pPr algn="just" fontAlgn="base"/>
            <a:r>
              <a:rPr lang="en-ID" dirty="0" err="1">
                <a:latin typeface="+mj-lt"/>
              </a:rPr>
              <a:t>Apakah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kemampuan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berbahasa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Inggris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dapat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memengaruhi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jenjang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karir</a:t>
            </a:r>
            <a:r>
              <a:rPr lang="en-ID" dirty="0">
                <a:latin typeface="+mj-lt"/>
              </a:rPr>
              <a:t>?</a:t>
            </a: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61507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7269C-3FE2-22A5-82AA-77799E374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5B784-5679-6B84-8AAA-D97F15F85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RUMUSAN MASALAH (RESEARCH QUESTIONS)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AC04-8333-238A-5060-CBA093B25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3"/>
            </a:pPr>
            <a:r>
              <a:rPr lang="en-US" b="1" dirty="0" err="1">
                <a:latin typeface="+mj-lt"/>
              </a:rPr>
              <a:t>Rumusan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Masalah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Deskritif</a:t>
            </a:r>
            <a:endParaRPr lang="en-US" b="1" dirty="0">
              <a:latin typeface="+mj-lt"/>
            </a:endParaRPr>
          </a:p>
          <a:p>
            <a:pPr marL="514350" indent="-514350">
              <a:buAutoNum type="arabicPeriod" startAt="3"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51F8AA-41AE-6ACC-DB9C-BF4C12080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65"/>
            <a:ext cx="192364" cy="4500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0440" tIns="0" rIns="0" bIns="17139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ACFC36-84CB-4169-F334-E8E1E8C02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643" y="2409390"/>
            <a:ext cx="11055927" cy="4051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0" tIns="0" rIns="0" bIns="17139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Rumusan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masalah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deskriptif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adalah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jenis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rumusan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masalah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yang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memberikan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gambaran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tentang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arah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serta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alur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dari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penelitian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kualitatif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serta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hanya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menggunakan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satu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variabel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saja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.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Berikut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ini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contoh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rumusan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masalah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deskriptif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Mengapa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banyak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pelajar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Indonesia yang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suka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bermain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 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handphone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Bagaimana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cara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mendidik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anak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yang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penuh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dengan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motivasi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Hal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apa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yang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menyebabkan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seseorang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lebih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suka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menonton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film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daripada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membaca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buku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j-lt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60408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A45B-2718-569B-81F9-80EE74E3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EC40-923F-B3A1-A900-81ABB782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RUMUSAN MASALAH (RESEARCH QUESTIONS)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58F2E-B3EE-E610-19B3-1ACE90225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Cara </a:t>
            </a:r>
            <a:r>
              <a:rPr lang="en-US" b="1" dirty="0" err="1">
                <a:latin typeface="+mj-lt"/>
              </a:rPr>
              <a:t>membuat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rumusan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masalah</a:t>
            </a:r>
            <a:endParaRPr lang="en-US" b="1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Tentukan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permasalahan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sesuai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dengan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kemampuan</a:t>
            </a:r>
            <a:endParaRPr lang="en-US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Sesuaikan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dengan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landasan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teori</a:t>
            </a:r>
            <a:endParaRPr lang="en-US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Buat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pertanyaan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dengan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menggunakan</a:t>
            </a:r>
            <a:r>
              <a:rPr lang="en-US" dirty="0">
                <a:latin typeface="+mj-lt"/>
              </a:rPr>
              <a:t> format 5w+1H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Gunakan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pertanyaan</a:t>
            </a:r>
            <a:r>
              <a:rPr lang="en-US" dirty="0">
                <a:latin typeface="+mj-lt"/>
              </a:rPr>
              <a:t> yang </a:t>
            </a:r>
            <a:r>
              <a:rPr lang="en-US" dirty="0" err="1">
                <a:latin typeface="+mj-lt"/>
              </a:rPr>
              <a:t>singkat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padat</a:t>
            </a:r>
            <a:r>
              <a:rPr lang="en-US" dirty="0">
                <a:latin typeface="+mj-lt"/>
              </a:rPr>
              <a:t>, dan </a:t>
            </a:r>
            <a:r>
              <a:rPr lang="en-US" dirty="0" err="1">
                <a:latin typeface="+mj-lt"/>
              </a:rPr>
              <a:t>jelas</a:t>
            </a:r>
            <a:endParaRPr lang="en-US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+mj-lt"/>
              </a:rPr>
              <a:t>Sesuaikan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dengan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tujuan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penelitian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C4144F-290F-AA9B-1913-A13464FD4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65"/>
            <a:ext cx="192364" cy="4500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0440" tIns="0" rIns="0" bIns="17139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77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CF709-D429-FF07-8126-A0E1E1EB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A64E-3100-E79F-D802-E755B246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TUJUAN PENELITIAN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776C5-7BDD-F925-5064-B6DE0C3BC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 err="1">
                <a:latin typeface="+mj-lt"/>
              </a:rPr>
              <a:t>Merupakan</a:t>
            </a:r>
            <a:r>
              <a:rPr lang="en-ID" b="1" dirty="0">
                <a:latin typeface="+mj-lt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menjelaskan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tujuan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akhir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dicapai</a:t>
            </a:r>
            <a:r>
              <a:rPr lang="en-ID" dirty="0">
                <a:latin typeface="+mj-lt"/>
              </a:rPr>
              <a:t> oleh </a:t>
            </a:r>
            <a:r>
              <a:rPr lang="en-ID" dirty="0" err="1">
                <a:latin typeface="+mj-lt"/>
              </a:rPr>
              <a:t>peneliti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setelah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selesai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dilakukan</a:t>
            </a:r>
            <a:r>
              <a:rPr lang="en-ID" dirty="0">
                <a:latin typeface="+mj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memberikan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gambaran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tegas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tentang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sasaran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ruang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lingkup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r>
              <a:rPr lang="en-ID" dirty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nn-NO" b="1" dirty="0">
                <a:latin typeface="+mj-lt"/>
              </a:rPr>
              <a:t>Teknik merumuskan tujuan penelitian : </a:t>
            </a:r>
          </a:p>
          <a:p>
            <a:pPr marL="0" indent="0">
              <a:buNone/>
            </a:pPr>
            <a:r>
              <a:rPr lang="nn-NO" dirty="0">
                <a:latin typeface="+mj-lt"/>
              </a:rPr>
              <a:t>• Singkat dan spesifik</a:t>
            </a:r>
          </a:p>
          <a:p>
            <a:pPr marL="0" indent="0">
              <a:buNone/>
            </a:pPr>
            <a:r>
              <a:rPr lang="nn-NO" dirty="0">
                <a:latin typeface="+mj-lt"/>
              </a:rPr>
              <a:t>• Diarahkan untuk menjawab permasalahan yang telah dirumuskan</a:t>
            </a:r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766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20DD-34C0-85E8-E466-FC9CA08B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BATASAN MASALAH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9714-8C68-37C5-BEB2-408C7F9D0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b="1" dirty="0">
                <a:latin typeface="+mj-lt"/>
              </a:rPr>
              <a:t>Batasan </a:t>
            </a:r>
            <a:r>
              <a:rPr lang="en-ID" b="1" dirty="0" err="1">
                <a:latin typeface="+mj-lt"/>
              </a:rPr>
              <a:t>masalah</a:t>
            </a:r>
            <a:r>
              <a:rPr lang="en-ID" b="1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adalah</a:t>
            </a:r>
            <a:r>
              <a:rPr lang="en-ID" dirty="0">
                <a:latin typeface="+mj-lt"/>
              </a:rPr>
              <a:t> </a:t>
            </a:r>
            <a:r>
              <a:rPr lang="en-ID" b="1" dirty="0" err="1">
                <a:latin typeface="+mj-lt"/>
              </a:rPr>
              <a:t>ruang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lingkup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atau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batasan</a:t>
            </a:r>
            <a:r>
              <a:rPr lang="en-ID" b="1" dirty="0">
                <a:latin typeface="+mj-lt"/>
              </a:rPr>
              <a:t> yang </a:t>
            </a:r>
            <a:r>
              <a:rPr lang="en-ID" b="1" dirty="0" err="1">
                <a:latin typeface="+mj-lt"/>
              </a:rPr>
              <a:t>ditetapkan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dalam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suatu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penelitian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untuk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memfokuskan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pembahasan</a:t>
            </a:r>
            <a:r>
              <a:rPr lang="en-ID" b="1" dirty="0">
                <a:latin typeface="+mj-lt"/>
              </a:rPr>
              <a:t> pada </a:t>
            </a:r>
            <a:r>
              <a:rPr lang="en-ID" b="1" dirty="0" err="1">
                <a:latin typeface="+mj-lt"/>
              </a:rPr>
              <a:t>aspek-aspek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tertentu</a:t>
            </a:r>
            <a:r>
              <a:rPr lang="en-ID" dirty="0">
                <a:latin typeface="+mj-lt"/>
              </a:rPr>
              <a:t>. Hal </a:t>
            </a:r>
            <a:r>
              <a:rPr lang="en-ID" dirty="0" err="1">
                <a:latin typeface="+mj-lt"/>
              </a:rPr>
              <a:t>ini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dilakukan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menghindari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pembahasan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terlalu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luas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tidak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relevan</a:t>
            </a:r>
            <a:r>
              <a:rPr lang="en-ID" dirty="0">
                <a:latin typeface="+mj-lt"/>
              </a:rPr>
              <a:t>, </a:t>
            </a:r>
            <a:r>
              <a:rPr lang="en-ID" dirty="0" err="1">
                <a:latin typeface="+mj-lt"/>
              </a:rPr>
              <a:t>sehingga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menjadi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lebih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terarah</a:t>
            </a:r>
            <a:r>
              <a:rPr lang="en-ID" dirty="0">
                <a:latin typeface="+mj-lt"/>
              </a:rPr>
              <a:t>, </a:t>
            </a:r>
            <a:r>
              <a:rPr lang="en-ID" dirty="0" err="1">
                <a:latin typeface="+mj-lt"/>
              </a:rPr>
              <a:t>efektif</a:t>
            </a:r>
            <a:r>
              <a:rPr lang="en-ID" dirty="0">
                <a:latin typeface="+mj-lt"/>
              </a:rPr>
              <a:t>, dan </a:t>
            </a:r>
            <a:r>
              <a:rPr lang="en-ID" dirty="0" err="1">
                <a:latin typeface="+mj-lt"/>
              </a:rPr>
              <a:t>mendalam</a:t>
            </a:r>
            <a:r>
              <a:rPr lang="en-ID" dirty="0">
                <a:latin typeface="+mj-lt"/>
              </a:rPr>
              <a:t>. Batasan </a:t>
            </a:r>
            <a:r>
              <a:rPr lang="en-ID" dirty="0" err="1">
                <a:latin typeface="+mj-lt"/>
              </a:rPr>
              <a:t>masalah</a:t>
            </a:r>
            <a:r>
              <a:rPr lang="en-ID" dirty="0">
                <a:latin typeface="+mj-lt"/>
              </a:rPr>
              <a:t> juga </a:t>
            </a:r>
            <a:r>
              <a:rPr lang="en-ID" dirty="0" err="1">
                <a:latin typeface="+mj-lt"/>
              </a:rPr>
              <a:t>sering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disebut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sebagai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ruang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lingkup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r>
              <a:rPr lang="en-ID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31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DCAF0-DDFF-28E3-C170-147FD05E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DC6F-013C-BB47-2E9B-18C15714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BATASAN MASALAH</a:t>
            </a:r>
            <a:endParaRPr lang="en-ID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ACCC1E-12C9-F346-4856-37A1D45145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1970" y="1529559"/>
            <a:ext cx="10391830" cy="4494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9204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Fungsi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utama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batasan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masalah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: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Memperjelas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fokus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Memastikan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penelitian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tidak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meluas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berbagai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arah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tidak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relevan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Menghemat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sumber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daya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Membatasi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penggunaan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waktu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biaya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,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tenaga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agar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lebih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efisien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Meningkatkan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kualitas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Pembahasan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lebih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mendalam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spesifik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menghasilkan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temuan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lebih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tajam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Secara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sederhana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batasan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masalah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adalah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pagar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"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dibuat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oleh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peneliti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menentukan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apa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saja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dibahas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apa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tidak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+mj-lt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804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4D69-09E0-B709-7D33-EC078A15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MANFAAT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A9DEF-3C2D-AB01-02D4-C9F0B1FF9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+mj-lt"/>
              </a:rPr>
              <a:t>MANFAAT ≠ TUJUAN</a:t>
            </a:r>
            <a:endParaRPr lang="en-ID" sz="3000" b="1" dirty="0">
              <a:solidFill>
                <a:srgbClr val="FF0000"/>
              </a:solidFill>
              <a:latin typeface="+mj-lt"/>
            </a:endParaRPr>
          </a:p>
          <a:p>
            <a:pPr marL="0" indent="0" algn="just">
              <a:buNone/>
            </a:pPr>
            <a:r>
              <a:rPr lang="en-ID" b="1" dirty="0" err="1">
                <a:latin typeface="+mj-lt"/>
              </a:rPr>
              <a:t>Definisi</a:t>
            </a:r>
            <a:r>
              <a:rPr lang="en-ID" b="1" dirty="0">
                <a:latin typeface="+mj-lt"/>
              </a:rPr>
              <a:t>: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menjelaskan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manfaat</a:t>
            </a:r>
            <a:r>
              <a:rPr lang="en-ID" dirty="0">
                <a:latin typeface="+mj-lt"/>
              </a:rPr>
              <a:t>/</a:t>
            </a:r>
            <a:r>
              <a:rPr lang="en-ID" dirty="0" err="1">
                <a:latin typeface="+mj-lt"/>
              </a:rPr>
              <a:t>kontribusi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diperoleh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hasil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siapa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pihak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akan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mendapatkan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manfaat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tersebut</a:t>
            </a:r>
            <a:r>
              <a:rPr lang="en-ID" dirty="0">
                <a:latin typeface="+mj-lt"/>
              </a:rPr>
              <a:t>.</a:t>
            </a:r>
          </a:p>
          <a:p>
            <a:pPr marL="0" indent="0" algn="just">
              <a:buNone/>
            </a:pPr>
            <a:r>
              <a:rPr lang="en-ID" b="1" dirty="0">
                <a:latin typeface="+mj-lt"/>
              </a:rPr>
              <a:t>Teknik </a:t>
            </a:r>
            <a:r>
              <a:rPr lang="en-ID" b="1" dirty="0" err="1">
                <a:latin typeface="+mj-lt"/>
              </a:rPr>
              <a:t>merumuskan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manfaat</a:t>
            </a:r>
            <a:r>
              <a:rPr lang="en-ID" b="1" dirty="0">
                <a:latin typeface="+mj-lt"/>
              </a:rPr>
              <a:t> </a:t>
            </a:r>
            <a:r>
              <a:rPr lang="en-ID" b="1" dirty="0" err="1">
                <a:latin typeface="+mj-lt"/>
              </a:rPr>
              <a:t>penelitian</a:t>
            </a:r>
            <a:r>
              <a:rPr lang="en-ID" b="1" dirty="0">
                <a:latin typeface="+mj-lt"/>
              </a:rPr>
              <a:t> : </a:t>
            </a:r>
          </a:p>
          <a:p>
            <a:pPr algn="just"/>
            <a:r>
              <a:rPr lang="en-ID" dirty="0" err="1">
                <a:latin typeface="+mj-lt"/>
              </a:rPr>
              <a:t>Disebutkan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secara</a:t>
            </a:r>
            <a:r>
              <a:rPr lang="en-ID" dirty="0">
                <a:latin typeface="+mj-lt"/>
              </a:rPr>
              <a:t> detail </a:t>
            </a:r>
            <a:r>
              <a:rPr lang="en-ID" dirty="0" err="1">
                <a:latin typeface="+mj-lt"/>
              </a:rPr>
              <a:t>siapa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saja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mendapatkan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manfaat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apa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manfaat</a:t>
            </a:r>
            <a:r>
              <a:rPr lang="en-ID" dirty="0">
                <a:latin typeface="+mj-lt"/>
              </a:rPr>
              <a:t> yang </a:t>
            </a:r>
            <a:r>
              <a:rPr lang="en-ID" dirty="0" err="1">
                <a:latin typeface="+mj-lt"/>
              </a:rPr>
              <a:t>dapat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diperoleh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hasil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endParaRPr lang="en-ID" dirty="0">
              <a:latin typeface="+mj-lt"/>
            </a:endParaRPr>
          </a:p>
          <a:p>
            <a:pPr algn="just"/>
            <a:r>
              <a:rPr lang="en-ID" dirty="0">
                <a:latin typeface="+mj-lt"/>
              </a:rPr>
              <a:t> Manfaat </a:t>
            </a:r>
            <a:r>
              <a:rPr lang="en-ID" dirty="0" err="1">
                <a:latin typeface="+mj-lt"/>
              </a:rPr>
              <a:t>dapat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dikaitkan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dengan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orientasi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penelitian</a:t>
            </a:r>
            <a:r>
              <a:rPr lang="en-ID" dirty="0">
                <a:latin typeface="+mj-lt"/>
              </a:rPr>
              <a:t>, </a:t>
            </a:r>
            <a:r>
              <a:rPr lang="en-ID" dirty="0" err="1">
                <a:latin typeface="+mj-lt"/>
              </a:rPr>
              <a:t>apakah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mempunyai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kontribusi</a:t>
            </a:r>
            <a:r>
              <a:rPr lang="en-ID" dirty="0">
                <a:latin typeface="+mj-lt"/>
              </a:rPr>
              <a:t> pada </a:t>
            </a:r>
            <a:r>
              <a:rPr lang="en-ID" dirty="0" err="1">
                <a:latin typeface="+mj-lt"/>
              </a:rPr>
              <a:t>pengembangan</a:t>
            </a:r>
            <a:r>
              <a:rPr lang="en-ID" dirty="0">
                <a:latin typeface="+mj-lt"/>
              </a:rPr>
              <a:t> dan </a:t>
            </a:r>
            <a:r>
              <a:rPr lang="en-ID" dirty="0" err="1">
                <a:latin typeface="+mj-lt"/>
              </a:rPr>
              <a:t>penerapan</a:t>
            </a:r>
            <a:r>
              <a:rPr lang="en-ID" dirty="0">
                <a:latin typeface="+mj-lt"/>
              </a:rPr>
              <a:t> IPTEKS, </a:t>
            </a:r>
            <a:r>
              <a:rPr lang="en-ID" dirty="0" err="1">
                <a:latin typeface="+mj-lt"/>
              </a:rPr>
              <a:t>pengembangan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kelembagaan</a:t>
            </a:r>
            <a:r>
              <a:rPr lang="en-ID" dirty="0">
                <a:latin typeface="+mj-lt"/>
              </a:rPr>
              <a:t>/</a:t>
            </a:r>
            <a:r>
              <a:rPr lang="en-ID" dirty="0" err="1">
                <a:latin typeface="+mj-lt"/>
              </a:rPr>
              <a:t>organisasi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atau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untuk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pemecahan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masalah-masalah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praktis</a:t>
            </a:r>
            <a:r>
              <a:rPr lang="en-ID" dirty="0">
                <a:latin typeface="+mj-lt"/>
              </a:rPr>
              <a:t>/</a:t>
            </a:r>
            <a:r>
              <a:rPr lang="en-ID" dirty="0" err="1">
                <a:latin typeface="+mj-lt"/>
              </a:rPr>
              <a:t>menunjang</a:t>
            </a:r>
            <a:r>
              <a:rPr lang="en-ID" dirty="0">
                <a:latin typeface="+mj-lt"/>
              </a:rPr>
              <a:t> Pembangunan, </a:t>
            </a:r>
            <a:r>
              <a:rPr lang="en-ID" dirty="0" err="1">
                <a:latin typeface="+mj-lt"/>
              </a:rPr>
              <a:t>dsb</a:t>
            </a:r>
            <a:r>
              <a:rPr lang="en-ID" dirty="0"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462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5BE1-DBA4-A05D-4456-CA64B760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</a:t>
            </a:r>
            <a:endParaRPr lang="en-ID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CF10016-B259-8C68-49AE-F6CBEF291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676" y="1551664"/>
            <a:ext cx="11060447" cy="393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00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050EFB-BCB1-2228-8F73-D78B98CE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9426"/>
            <a:ext cx="10515600" cy="1325563"/>
          </a:xfrm>
        </p:spPr>
        <p:txBody>
          <a:bodyPr/>
          <a:lstStyle/>
          <a:p>
            <a:r>
              <a:rPr lang="en-US" b="1" dirty="0" err="1"/>
              <a:t>Rumusan</a:t>
            </a:r>
            <a:r>
              <a:rPr lang="en-US" b="1" dirty="0"/>
              <a:t> </a:t>
            </a:r>
            <a:r>
              <a:rPr lang="en-US" b="1" dirty="0" err="1"/>
              <a:t>Masalah</a:t>
            </a:r>
            <a:endParaRPr lang="en-ID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0BE2B3-5FF0-5C7B-DD15-715A25A8AE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42868"/>
            <a:ext cx="10515600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can hybrid machine learning techniques improve the accuracy and reliability of breast cancer identification based on gene expression mRNA data?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preprocessing and feature selection methods are most effective in preparing gene expression mRNA data for classification?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Which combination of machine learning algorithms and hyperparameter optimization techniques produces the best model performance for breast cancer identification?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does the proposed hybrid machine learning model compare with previous research models in terms of accuracy, precision, recall, F1-score, and interpretability?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new insights can be gained from applying machine learning with hyperparameter optimization to gene expression mRNA data in identifying different types of breast cancer?</a:t>
            </a:r>
          </a:p>
        </p:txBody>
      </p:sp>
    </p:spTree>
    <p:extLst>
      <p:ext uri="{BB962C8B-B14F-4D97-AF65-F5344CB8AC3E}">
        <p14:creationId xmlns:p14="http://schemas.microsoft.com/office/powerpoint/2010/main" val="2030989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8DE5-9943-0E02-4433-847B6A42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Research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0952F-1690-D40E-277D-623EE081C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571500">
              <a:buFont typeface="+mj-lt"/>
              <a:buAutoNum type="romanLcPeriod"/>
            </a:pPr>
            <a:r>
              <a:rPr lang="en-US" dirty="0">
                <a:latin typeface="+mj-lt"/>
              </a:rPr>
              <a:t>To analyze and apply appropriate preprocessing methods to gene expression mRNA datasets to ensure data readiness for further analysis.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latin typeface="+mj-lt"/>
              </a:rPr>
              <a:t>To design and implement a machine learning framework capable of identifying breast cancer based on gene expression data.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latin typeface="+mj-lt"/>
              </a:rPr>
              <a:t>To apply various machine learning algorithms for detailed classification of breast cancer types.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latin typeface="+mj-lt"/>
              </a:rPr>
              <a:t> To optimize model performance by selecting suitable algorithms and tuning parameters through hyperparameter optimization.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latin typeface="+mj-lt"/>
              </a:rPr>
              <a:t>To compare the performance of the proposed hybrid model with existing models from prior research studies.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>
                <a:latin typeface="+mj-lt"/>
              </a:rPr>
              <a:t>To gain new insights into the application of machine learning and hyperparameter optimization for gene expression–based breast cancer identification.</a:t>
            </a:r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1424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51E26-6BA7-244B-AD55-0E5CFEA2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Problem</a:t>
            </a:r>
            <a:endParaRPr lang="en-ID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CDBA6DC-7198-8CED-53F8-429E57FCD9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738994"/>
            <a:ext cx="1068086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Scope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research utilizes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publicly available gene expression mRNA datasets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(e.g., from UCI, TCGA, or GEO databases).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study focuses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structured numeric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rather than raw medical imaging.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Technical Scope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study involves the use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hybrid machine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which integrates multiple algorithms (e.g., Decision Tree, SVM, Random Forest, and k-NN)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hyperparameter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possibly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ensemble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techniques.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 selection and preprocessing (such as normalization and dimensionality reduction) are emphasized to improve model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0679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27FCE-5E2F-4A90-2303-490BE28EF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B8B0-C10C-01E1-06E1-6F8BD260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Problem</a:t>
            </a:r>
            <a:endParaRPr lang="en-ID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8C3C7FA-CC57-206C-7F22-EEF0B52773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680865" cy="2371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+mj-lt"/>
              </a:rPr>
              <a:t>Limitation Scope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The research focuses only on </a:t>
            </a:r>
            <a:r>
              <a:rPr lang="en-US" b="1" dirty="0">
                <a:latin typeface="+mj-lt"/>
              </a:rPr>
              <a:t>classification</a:t>
            </a:r>
            <a:r>
              <a:rPr lang="en-US" dirty="0">
                <a:latin typeface="+mj-lt"/>
              </a:rPr>
              <a:t> (benign vs. malignant or by subtype), without exploring cancer staging or prognosis prediction.</a:t>
            </a:r>
          </a:p>
          <a:p>
            <a:pPr lvl="1"/>
            <a:r>
              <a:rPr lang="en-US" dirty="0">
                <a:latin typeface="+mj-lt"/>
              </a:rPr>
              <a:t>The study does not involve </a:t>
            </a:r>
            <a:r>
              <a:rPr lang="en-US" b="1" dirty="0">
                <a:latin typeface="+mj-lt"/>
              </a:rPr>
              <a:t>real-time deployment</a:t>
            </a:r>
            <a:r>
              <a:rPr lang="en-US" dirty="0">
                <a:latin typeface="+mj-lt"/>
              </a:rPr>
              <a:t> or clinical implementation.</a:t>
            </a:r>
          </a:p>
          <a:p>
            <a:pPr lvl="1"/>
            <a:r>
              <a:rPr lang="en-US" dirty="0">
                <a:latin typeface="+mj-lt"/>
              </a:rPr>
              <a:t>Only </a:t>
            </a:r>
            <a:r>
              <a:rPr lang="en-US" b="1" dirty="0">
                <a:latin typeface="+mj-lt"/>
              </a:rPr>
              <a:t>open-access datasets</a:t>
            </a:r>
            <a:r>
              <a:rPr lang="en-US" dirty="0">
                <a:latin typeface="+mj-lt"/>
              </a:rPr>
              <a:t> are used; no direct patient data are collected.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4353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6DEEF-16D4-9DD3-855E-39E75AC9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08E5-8E59-DC8E-7128-8606C142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64" y="268690"/>
            <a:ext cx="10515600" cy="795647"/>
          </a:xfrm>
        </p:spPr>
        <p:txBody>
          <a:bodyPr/>
          <a:lstStyle/>
          <a:p>
            <a:r>
              <a:rPr lang="en-US" dirty="0"/>
              <a:t>Benefits</a:t>
            </a:r>
            <a:endParaRPr lang="en-ID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D7E9E83-F97C-1C07-0A77-48C328B70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064" y="1040586"/>
            <a:ext cx="10727872" cy="6473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+mj-lt"/>
              </a:rPr>
              <a:t>Academic Benefits</a:t>
            </a:r>
          </a:p>
          <a:p>
            <a:pPr algn="just"/>
            <a:r>
              <a:rPr lang="en-US" sz="2400" dirty="0">
                <a:latin typeface="+mj-lt"/>
              </a:rPr>
              <a:t>Provides a deeper understanding of the role of hybrid machine learning and hyperparameter optimization in biomedical data analysis.</a:t>
            </a:r>
          </a:p>
          <a:p>
            <a:pPr algn="just"/>
            <a:r>
              <a:rPr lang="en-US" sz="2400" dirty="0">
                <a:latin typeface="+mj-lt"/>
              </a:rPr>
              <a:t>Expands the existing literature on breast cancer identification through comparative studies of machine learning models.</a:t>
            </a:r>
          </a:p>
          <a:p>
            <a:pPr algn="just"/>
            <a:r>
              <a:rPr lang="en-US" sz="2400" dirty="0">
                <a:latin typeface="+mj-lt"/>
              </a:rPr>
              <a:t>Contributes to research reproducibility and methodological transparency in medical AI applications.</a:t>
            </a:r>
          </a:p>
          <a:p>
            <a:pPr marL="0" indent="0">
              <a:buNone/>
            </a:pPr>
            <a:r>
              <a:rPr lang="en-US" sz="2400" b="1" dirty="0">
                <a:latin typeface="+mj-lt"/>
              </a:rPr>
              <a:t>Practical Benefits</a:t>
            </a:r>
          </a:p>
          <a:p>
            <a:r>
              <a:rPr lang="en-US" sz="2400" dirty="0">
                <a:latin typeface="+mj-lt"/>
              </a:rPr>
              <a:t>Offers a reliable computational approach to assist clinicians in </a:t>
            </a:r>
            <a:r>
              <a:rPr lang="en-US" sz="2400" b="1" dirty="0">
                <a:latin typeface="+mj-lt"/>
              </a:rPr>
              <a:t>early breast cancer detection</a:t>
            </a:r>
            <a:r>
              <a:rPr lang="en-US" sz="2400" dirty="0">
                <a:latin typeface="+mj-lt"/>
              </a:rPr>
              <a:t> and </a:t>
            </a:r>
            <a:r>
              <a:rPr lang="en-US" sz="2400" b="1" dirty="0">
                <a:latin typeface="+mj-lt"/>
              </a:rPr>
              <a:t>diagnostic decision support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dirty="0">
                <a:latin typeface="+mj-lt"/>
              </a:rPr>
              <a:t>Improves diagnostic efficiency by automating the classification of breast cancer cases based on genetic markers.</a:t>
            </a:r>
          </a:p>
          <a:p>
            <a:r>
              <a:rPr lang="en-US" sz="2400" dirty="0">
                <a:latin typeface="+mj-lt"/>
              </a:rPr>
              <a:t>Helps identify key mRNA expression features that can guide future biomedical research.</a:t>
            </a:r>
          </a:p>
          <a:p>
            <a:pPr marL="0" indent="0" algn="just">
              <a:buNone/>
            </a:pPr>
            <a:endParaRPr lang="en-US" sz="2400" dirty="0"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72491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E438-FC88-99CD-6338-AF6C807D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FB3C5-BBEA-71C4-4547-59F65509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1827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Social and Health Benefits</a:t>
            </a:r>
          </a:p>
          <a:p>
            <a:r>
              <a:rPr lang="en-US" dirty="0">
                <a:latin typeface="+mj-lt"/>
              </a:rPr>
              <a:t>Supports </a:t>
            </a:r>
            <a:r>
              <a:rPr lang="en-US" b="1" dirty="0">
                <a:latin typeface="+mj-lt"/>
              </a:rPr>
              <a:t>early detection and intervention</a:t>
            </a:r>
            <a:r>
              <a:rPr lang="en-US" dirty="0">
                <a:latin typeface="+mj-lt"/>
              </a:rPr>
              <a:t>, which can significantly reduce breast cancer mortality rates.</a:t>
            </a:r>
          </a:p>
          <a:p>
            <a:r>
              <a:rPr lang="en-US" dirty="0">
                <a:latin typeface="+mj-lt"/>
              </a:rPr>
              <a:t>Promotes the integration of </a:t>
            </a:r>
            <a:r>
              <a:rPr lang="en-US" b="1" dirty="0">
                <a:latin typeface="+mj-lt"/>
              </a:rPr>
              <a:t>AI-driven diagnostics</a:t>
            </a:r>
            <a:r>
              <a:rPr lang="en-US" dirty="0">
                <a:latin typeface="+mj-lt"/>
              </a:rPr>
              <a:t> in healthcare, improving accessibility and quality of care.</a:t>
            </a:r>
          </a:p>
          <a:p>
            <a:r>
              <a:rPr lang="en-US" dirty="0">
                <a:latin typeface="+mj-lt"/>
              </a:rPr>
              <a:t>Encourages data-driven innovations that enhance public health management and awareness.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1658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1145</Words>
  <Application>Microsoft Office PowerPoint</Application>
  <PresentationFormat>Widescreen</PresentationFormat>
  <Paragraphs>101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PEMBUATAN PROPOSAL </vt:lpstr>
      <vt:lpstr>RUMUSAN MASALAH (RESEARCH QUESTIONS)</vt:lpstr>
      <vt:lpstr>RUMUSAN MASALAH (RESEARCH QUESTIONS)</vt:lpstr>
      <vt:lpstr>RUMUSAN MASALAH (RESEARCH QUESTIONS)</vt:lpstr>
      <vt:lpstr>RUMUSAN MASALAH (RESEARCH QUESTIONS)</vt:lpstr>
      <vt:lpstr>RUMUSAN MASALAH (RESEARCH QUESTIONS)</vt:lpstr>
      <vt:lpstr>RUMUSAN MASALAH (RESEARCH QUESTIONS)</vt:lpstr>
      <vt:lpstr>TUJUAN PENELITIAN</vt:lpstr>
      <vt:lpstr>BATASAN MASALAH</vt:lpstr>
      <vt:lpstr>BATASAN MASALAH</vt:lpstr>
      <vt:lpstr>MANFAAT</vt:lpstr>
      <vt:lpstr>CONTOH</vt:lpstr>
      <vt:lpstr>Rumusan Masalah</vt:lpstr>
      <vt:lpstr>Objective of Research</vt:lpstr>
      <vt:lpstr>Scope of Problem</vt:lpstr>
      <vt:lpstr>Scope of Problem</vt:lpstr>
      <vt:lpstr>Benefits</vt:lpstr>
      <vt:lpstr>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Indri Ani</dc:creator>
  <cp:lastModifiedBy>Indri Ani</cp:lastModifiedBy>
  <cp:revision>7</cp:revision>
  <dcterms:created xsi:type="dcterms:W3CDTF">2025-10-04T04:11:02Z</dcterms:created>
  <dcterms:modified xsi:type="dcterms:W3CDTF">2026-04-06T13:15:30Z</dcterms:modified>
</cp:coreProperties>
</file>