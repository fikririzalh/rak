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256" r:id="rId2"/>
    <p:sldId id="285" r:id="rId3"/>
    <p:sldId id="264" r:id="rId4"/>
    <p:sldId id="263" r:id="rId5"/>
    <p:sldId id="257" r:id="rId6"/>
    <p:sldId id="258" r:id="rId7"/>
    <p:sldId id="260" r:id="rId8"/>
    <p:sldId id="259" r:id="rId9"/>
    <p:sldId id="261" r:id="rId10"/>
    <p:sldId id="262" r:id="rId11"/>
    <p:sldId id="265" r:id="rId12"/>
    <p:sldId id="284" r:id="rId13"/>
    <p:sldId id="266" r:id="rId14"/>
    <p:sldId id="270" r:id="rId15"/>
    <p:sldId id="267" r:id="rId16"/>
    <p:sldId id="268" r:id="rId17"/>
    <p:sldId id="269" r:id="rId18"/>
    <p:sldId id="274" r:id="rId19"/>
    <p:sldId id="271" r:id="rId20"/>
    <p:sldId id="272" r:id="rId21"/>
    <p:sldId id="275" r:id="rId22"/>
    <p:sldId id="276" r:id="rId23"/>
    <p:sldId id="278" r:id="rId24"/>
    <p:sldId id="277" r:id="rId25"/>
    <p:sldId id="279" r:id="rId26"/>
    <p:sldId id="280" r:id="rId27"/>
    <p:sldId id="281" r:id="rId28"/>
    <p:sldId id="282" r:id="rId29"/>
    <p:sldId id="283" r:id="rId30"/>
  </p:sldIdLst>
  <p:sldSz cx="9144000" cy="6858000" type="screen4x3"/>
  <p:notesSz cx="6858000" cy="9144000"/>
  <p:defaultTex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8" d="100"/>
          <a:sy n="68" d="100"/>
        </p:scale>
        <p:origin x="1446" y="7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5.wmf"/><Relationship Id="rId1" Type="http://schemas.openxmlformats.org/officeDocument/2006/relationships/image" Target="../media/image4.wmf"/><Relationship Id="rId5" Type="http://schemas.openxmlformats.org/officeDocument/2006/relationships/image" Target="../media/image8.wmf"/><Relationship Id="rId4" Type="http://schemas.openxmlformats.org/officeDocument/2006/relationships/image" Target="../media/image7.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image" Target="../media/image11.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4.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id-ID"/>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75B2B5D-9E6D-4FDB-82FB-4BA759BFE7B7}" type="datetimeFigureOut">
              <a:rPr lang="id-ID" smtClean="0"/>
              <a:pPr/>
              <a:t>15/02/2025</a:t>
            </a:fld>
            <a:endParaRPr lang="id-ID"/>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id-ID"/>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id-ID"/>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39D12BD-1995-4D71-9B42-31646F32B863}" type="slidenum">
              <a:rPr lang="id-ID" smtClean="0"/>
              <a:pPr/>
              <a:t>‹#›</a:t>
            </a:fld>
            <a:endParaRPr lang="id-ID"/>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2290" name="Rectangle 2"/>
          <p:cNvSpPr>
            <a:spLocks noGrp="1" noRot="1" noChangeAspect="1" noChangeArrowheads="1"/>
          </p:cNvSpPr>
          <p:nvPr>
            <p:ph type="sldImg"/>
          </p:nvPr>
        </p:nvSpPr>
        <p:spPr bwMode="auto">
          <a:xfrm>
            <a:off x="1156509" y="687367"/>
            <a:ext cx="4549660" cy="3427434"/>
          </a:xfrm>
          <a:prstGeom prst="rect">
            <a:avLst/>
          </a:prstGeom>
          <a:solidFill>
            <a:srgbClr val="FFFFFF"/>
          </a:solidFill>
          <a:ln>
            <a:solidFill>
              <a:srgbClr val="000000"/>
            </a:solidFill>
            <a:miter lim="800000"/>
            <a:headEnd/>
            <a:tailEnd/>
          </a:ln>
        </p:spPr>
      </p:sp>
      <p:sp>
        <p:nvSpPr>
          <p:cNvPr id="652291" name="Rectangle 3"/>
          <p:cNvSpPr>
            <a:spLocks noGrp="1" noChangeArrowheads="1"/>
          </p:cNvSpPr>
          <p:nvPr>
            <p:ph type="body" idx="1"/>
          </p:nvPr>
        </p:nvSpPr>
        <p:spPr bwMode="auto">
          <a:xfrm>
            <a:off x="913361" y="4341835"/>
            <a:ext cx="5031278" cy="4114800"/>
          </a:xfrm>
          <a:prstGeom prst="rect">
            <a:avLst/>
          </a:prstGeom>
          <a:solidFill>
            <a:srgbClr val="FFFFFF"/>
          </a:solidFill>
          <a:ln>
            <a:solidFill>
              <a:srgbClr val="000000"/>
            </a:solidFill>
            <a:miter lim="800000"/>
            <a:headEnd/>
            <a:tailEnd/>
          </a:ln>
        </p:spPr>
        <p:txBody>
          <a:bodyPr lIns="89893" tIns="44946" rIns="89893" bIns="44946"/>
          <a:lstStyle/>
          <a:p>
            <a:endParaRPr lang="id-ID"/>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82" name="Rectangle 2"/>
          <p:cNvSpPr>
            <a:spLocks noGrp="1" noRot="1" noChangeAspect="1" noChangeArrowheads="1" noTextEdit="1"/>
          </p:cNvSpPr>
          <p:nvPr>
            <p:ph type="sldImg"/>
          </p:nvPr>
        </p:nvSpPr>
        <p:spPr>
          <a:xfrm>
            <a:off x="1158067" y="687367"/>
            <a:ext cx="4549659" cy="3427434"/>
          </a:xfrm>
          <a:ln/>
        </p:spPr>
      </p:sp>
      <p:sp>
        <p:nvSpPr>
          <p:cNvPr id="737283" name="Rectangle 3"/>
          <p:cNvSpPr>
            <a:spLocks noGrp="1" noChangeArrowheads="1"/>
          </p:cNvSpPr>
          <p:nvPr>
            <p:ph type="body" idx="1"/>
          </p:nvPr>
        </p:nvSpPr>
        <p:spPr>
          <a:xfrm>
            <a:off x="913361" y="4341835"/>
            <a:ext cx="5031278" cy="4114800"/>
          </a:xfrm>
        </p:spPr>
        <p:txBody>
          <a:bodyPr lIns="89885" tIns="44943" rIns="89885" bIns="44943"/>
          <a:lstStyle/>
          <a:p>
            <a:endParaRPr lang="id-ID"/>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6498" name="Rectangle 2"/>
          <p:cNvSpPr>
            <a:spLocks noGrp="1" noRot="1" noChangeAspect="1" noChangeArrowheads="1" noTextEdit="1"/>
          </p:cNvSpPr>
          <p:nvPr>
            <p:ph type="sldImg"/>
          </p:nvPr>
        </p:nvSpPr>
        <p:spPr>
          <a:xfrm>
            <a:off x="1158067" y="687367"/>
            <a:ext cx="4549659" cy="3427434"/>
          </a:xfrm>
          <a:ln/>
        </p:spPr>
      </p:sp>
      <p:sp>
        <p:nvSpPr>
          <p:cNvPr id="746499" name="Rectangle 3"/>
          <p:cNvSpPr>
            <a:spLocks noGrp="1" noChangeArrowheads="1"/>
          </p:cNvSpPr>
          <p:nvPr>
            <p:ph type="body" idx="1"/>
          </p:nvPr>
        </p:nvSpPr>
        <p:spPr>
          <a:xfrm>
            <a:off x="913361" y="4341835"/>
            <a:ext cx="5031278" cy="4114800"/>
          </a:xfrm>
        </p:spPr>
        <p:txBody>
          <a:bodyPr lIns="89885" tIns="44943" rIns="89885" bIns="44943"/>
          <a:lstStyle/>
          <a:p>
            <a:endParaRPr lang="id-ID"/>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5954" name="Rectangle 2"/>
          <p:cNvSpPr>
            <a:spLocks noGrp="1" noRot="1" noChangeAspect="1" noChangeArrowheads="1" noTextEdit="1"/>
          </p:cNvSpPr>
          <p:nvPr>
            <p:ph type="sldImg"/>
          </p:nvPr>
        </p:nvSpPr>
        <p:spPr>
          <a:xfrm>
            <a:off x="1156509" y="687367"/>
            <a:ext cx="4549660" cy="3427434"/>
          </a:xfrm>
          <a:ln/>
        </p:spPr>
      </p:sp>
      <p:sp>
        <p:nvSpPr>
          <p:cNvPr id="765955" name="Rectangle 3"/>
          <p:cNvSpPr>
            <a:spLocks noGrp="1" noChangeArrowheads="1"/>
          </p:cNvSpPr>
          <p:nvPr>
            <p:ph type="body" idx="1"/>
          </p:nvPr>
        </p:nvSpPr>
        <p:spPr>
          <a:xfrm>
            <a:off x="913361" y="4341835"/>
            <a:ext cx="5031278" cy="4114800"/>
          </a:xfrm>
        </p:spPr>
        <p:txBody>
          <a:bodyPr lIns="89893" tIns="44946" rIns="89893" bIns="44946"/>
          <a:lstStyle/>
          <a:p>
            <a:endParaRPr lang="id-ID"/>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3794" name="Rectangle 2"/>
          <p:cNvSpPr>
            <a:spLocks noGrp="1" noRot="1" noChangeAspect="1" noChangeArrowheads="1"/>
          </p:cNvSpPr>
          <p:nvPr>
            <p:ph type="sldImg"/>
          </p:nvPr>
        </p:nvSpPr>
        <p:spPr bwMode="auto">
          <a:xfrm>
            <a:off x="1147763" y="687388"/>
            <a:ext cx="4567237" cy="3427412"/>
          </a:xfrm>
          <a:prstGeom prst="rect">
            <a:avLst/>
          </a:prstGeom>
          <a:solidFill>
            <a:srgbClr val="FFFFFF"/>
          </a:solidFill>
          <a:ln>
            <a:solidFill>
              <a:srgbClr val="000000"/>
            </a:solidFill>
            <a:miter lim="800000"/>
            <a:headEnd/>
            <a:tailEnd/>
          </a:ln>
        </p:spPr>
      </p:sp>
      <p:sp>
        <p:nvSpPr>
          <p:cNvPr id="673795" name="Rectangle 3"/>
          <p:cNvSpPr>
            <a:spLocks noGrp="1" noChangeArrowheads="1"/>
          </p:cNvSpPr>
          <p:nvPr>
            <p:ph type="body" idx="1"/>
          </p:nvPr>
        </p:nvSpPr>
        <p:spPr bwMode="auto">
          <a:xfrm>
            <a:off x="913361" y="4341835"/>
            <a:ext cx="5031278" cy="4114800"/>
          </a:xfrm>
          <a:prstGeom prst="rect">
            <a:avLst/>
          </a:prstGeom>
          <a:solidFill>
            <a:srgbClr val="FFFFFF"/>
          </a:solidFill>
          <a:ln>
            <a:solidFill>
              <a:srgbClr val="000000"/>
            </a:solidFill>
            <a:miter lim="800000"/>
            <a:headEnd/>
            <a:tailEnd/>
          </a:ln>
        </p:spPr>
        <p:txBody>
          <a:bodyPr lIns="89893" tIns="44946" rIns="89893" bIns="44946"/>
          <a:lstStyle/>
          <a:p>
            <a:endParaRPr lang="id-ID"/>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id-ID"/>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id-ID"/>
          </a:p>
        </p:txBody>
      </p:sp>
      <p:sp>
        <p:nvSpPr>
          <p:cNvPr id="4" name="Date Placeholder 3"/>
          <p:cNvSpPr>
            <a:spLocks noGrp="1"/>
          </p:cNvSpPr>
          <p:nvPr>
            <p:ph type="dt" sz="half" idx="10"/>
          </p:nvPr>
        </p:nvSpPr>
        <p:spPr/>
        <p:txBody>
          <a:bodyPr/>
          <a:lstStyle/>
          <a:p>
            <a:fld id="{F6AE0465-1D43-45E6-B4D2-63DBAFA1D6C7}" type="datetimeFigureOut">
              <a:rPr lang="id-ID" smtClean="0"/>
              <a:pPr/>
              <a:t>15/02/2025</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6CB2295E-5282-4239-9E56-DDE6A9674E9F}" type="slidenum">
              <a:rPr lang="id-ID" smtClean="0"/>
              <a:pPr/>
              <a:t>‹#›</a:t>
            </a:fld>
            <a:endParaRPr lang="id-ID"/>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id-ID"/>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Date Placeholder 3"/>
          <p:cNvSpPr>
            <a:spLocks noGrp="1"/>
          </p:cNvSpPr>
          <p:nvPr>
            <p:ph type="dt" sz="half" idx="10"/>
          </p:nvPr>
        </p:nvSpPr>
        <p:spPr/>
        <p:txBody>
          <a:bodyPr/>
          <a:lstStyle/>
          <a:p>
            <a:fld id="{F6AE0465-1D43-45E6-B4D2-63DBAFA1D6C7}" type="datetimeFigureOut">
              <a:rPr lang="id-ID" smtClean="0"/>
              <a:pPr/>
              <a:t>15/02/2025</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6CB2295E-5282-4239-9E56-DDE6A9674E9F}" type="slidenum">
              <a:rPr lang="id-ID" smtClean="0"/>
              <a:pPr/>
              <a:t>‹#›</a:t>
            </a:fld>
            <a:endParaRPr lang="id-ID"/>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id-ID"/>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6AE0465-1D43-45E6-B4D2-63DBAFA1D6C7}" type="datetimeFigureOut">
              <a:rPr lang="id-ID" smtClean="0"/>
              <a:pPr/>
              <a:t>15/02/2025</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6CB2295E-5282-4239-9E56-DDE6A9674E9F}" type="slidenum">
              <a:rPr lang="id-ID" smtClean="0"/>
              <a:pPr/>
              <a:t>‹#›</a:t>
            </a:fld>
            <a:endParaRPr lang="id-ID"/>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id-ID"/>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5" name="Date Placeholder 4"/>
          <p:cNvSpPr>
            <a:spLocks noGrp="1"/>
          </p:cNvSpPr>
          <p:nvPr>
            <p:ph type="dt" sz="half" idx="10"/>
          </p:nvPr>
        </p:nvSpPr>
        <p:spPr/>
        <p:txBody>
          <a:bodyPr/>
          <a:lstStyle/>
          <a:p>
            <a:fld id="{F6AE0465-1D43-45E6-B4D2-63DBAFA1D6C7}" type="datetimeFigureOut">
              <a:rPr lang="id-ID" smtClean="0"/>
              <a:pPr/>
              <a:t>15/02/2025</a:t>
            </a:fld>
            <a:endParaRPr lang="id-ID"/>
          </a:p>
        </p:txBody>
      </p:sp>
      <p:sp>
        <p:nvSpPr>
          <p:cNvPr id="6" name="Footer Placeholder 5"/>
          <p:cNvSpPr>
            <a:spLocks noGrp="1"/>
          </p:cNvSpPr>
          <p:nvPr>
            <p:ph type="ftr" sz="quarter" idx="11"/>
          </p:nvPr>
        </p:nvSpPr>
        <p:spPr/>
        <p:txBody>
          <a:bodyPr/>
          <a:lstStyle/>
          <a:p>
            <a:endParaRPr lang="id-ID"/>
          </a:p>
        </p:txBody>
      </p:sp>
      <p:sp>
        <p:nvSpPr>
          <p:cNvPr id="7" name="Slide Number Placeholder 6"/>
          <p:cNvSpPr>
            <a:spLocks noGrp="1"/>
          </p:cNvSpPr>
          <p:nvPr>
            <p:ph type="sldNum" sz="quarter" idx="12"/>
          </p:nvPr>
        </p:nvSpPr>
        <p:spPr/>
        <p:txBody>
          <a:bodyPr/>
          <a:lstStyle/>
          <a:p>
            <a:fld id="{6CB2295E-5282-4239-9E56-DDE6A9674E9F}" type="slidenum">
              <a:rPr lang="id-ID" smtClean="0"/>
              <a:pPr/>
              <a:t>‹#›</a:t>
            </a:fld>
            <a:endParaRPr lang="id-ID"/>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id-ID"/>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7" name="Date Placeholder 6"/>
          <p:cNvSpPr>
            <a:spLocks noGrp="1"/>
          </p:cNvSpPr>
          <p:nvPr>
            <p:ph type="dt" sz="half" idx="10"/>
          </p:nvPr>
        </p:nvSpPr>
        <p:spPr/>
        <p:txBody>
          <a:bodyPr/>
          <a:lstStyle/>
          <a:p>
            <a:fld id="{F6AE0465-1D43-45E6-B4D2-63DBAFA1D6C7}" type="datetimeFigureOut">
              <a:rPr lang="id-ID" smtClean="0"/>
              <a:pPr/>
              <a:t>15/02/2025</a:t>
            </a:fld>
            <a:endParaRPr lang="id-ID"/>
          </a:p>
        </p:txBody>
      </p:sp>
      <p:sp>
        <p:nvSpPr>
          <p:cNvPr id="8" name="Footer Placeholder 7"/>
          <p:cNvSpPr>
            <a:spLocks noGrp="1"/>
          </p:cNvSpPr>
          <p:nvPr>
            <p:ph type="ftr" sz="quarter" idx="11"/>
          </p:nvPr>
        </p:nvSpPr>
        <p:spPr/>
        <p:txBody>
          <a:bodyPr/>
          <a:lstStyle/>
          <a:p>
            <a:endParaRPr lang="id-ID"/>
          </a:p>
        </p:txBody>
      </p:sp>
      <p:sp>
        <p:nvSpPr>
          <p:cNvPr id="9" name="Slide Number Placeholder 8"/>
          <p:cNvSpPr>
            <a:spLocks noGrp="1"/>
          </p:cNvSpPr>
          <p:nvPr>
            <p:ph type="sldNum" sz="quarter" idx="12"/>
          </p:nvPr>
        </p:nvSpPr>
        <p:spPr/>
        <p:txBody>
          <a:bodyPr/>
          <a:lstStyle/>
          <a:p>
            <a:fld id="{6CB2295E-5282-4239-9E56-DDE6A9674E9F}" type="slidenum">
              <a:rPr lang="id-ID" smtClean="0"/>
              <a:pPr/>
              <a:t>‹#›</a:t>
            </a:fld>
            <a:endParaRPr lang="id-ID"/>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id-ID"/>
          </a:p>
        </p:txBody>
      </p:sp>
      <p:sp>
        <p:nvSpPr>
          <p:cNvPr id="3" name="Date Placeholder 2"/>
          <p:cNvSpPr>
            <a:spLocks noGrp="1"/>
          </p:cNvSpPr>
          <p:nvPr>
            <p:ph type="dt" sz="half" idx="10"/>
          </p:nvPr>
        </p:nvSpPr>
        <p:spPr/>
        <p:txBody>
          <a:bodyPr/>
          <a:lstStyle/>
          <a:p>
            <a:fld id="{F6AE0465-1D43-45E6-B4D2-63DBAFA1D6C7}" type="datetimeFigureOut">
              <a:rPr lang="id-ID" smtClean="0"/>
              <a:pPr/>
              <a:t>15/02/2025</a:t>
            </a:fld>
            <a:endParaRPr lang="id-ID"/>
          </a:p>
        </p:txBody>
      </p:sp>
      <p:sp>
        <p:nvSpPr>
          <p:cNvPr id="4" name="Footer Placeholder 3"/>
          <p:cNvSpPr>
            <a:spLocks noGrp="1"/>
          </p:cNvSpPr>
          <p:nvPr>
            <p:ph type="ftr" sz="quarter" idx="11"/>
          </p:nvPr>
        </p:nvSpPr>
        <p:spPr/>
        <p:txBody>
          <a:bodyPr/>
          <a:lstStyle/>
          <a:p>
            <a:endParaRPr lang="id-ID"/>
          </a:p>
        </p:txBody>
      </p:sp>
      <p:sp>
        <p:nvSpPr>
          <p:cNvPr id="5" name="Slide Number Placeholder 4"/>
          <p:cNvSpPr>
            <a:spLocks noGrp="1"/>
          </p:cNvSpPr>
          <p:nvPr>
            <p:ph type="sldNum" sz="quarter" idx="12"/>
          </p:nvPr>
        </p:nvSpPr>
        <p:spPr/>
        <p:txBody>
          <a:bodyPr/>
          <a:lstStyle/>
          <a:p>
            <a:fld id="{6CB2295E-5282-4239-9E56-DDE6A9674E9F}" type="slidenum">
              <a:rPr lang="id-ID" smtClean="0"/>
              <a:pPr/>
              <a:t>‹#›</a:t>
            </a:fld>
            <a:endParaRPr lang="id-ID"/>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6AE0465-1D43-45E6-B4D2-63DBAFA1D6C7}" type="datetimeFigureOut">
              <a:rPr lang="id-ID" smtClean="0"/>
              <a:pPr/>
              <a:t>15/02/2025</a:t>
            </a:fld>
            <a:endParaRPr lang="id-ID"/>
          </a:p>
        </p:txBody>
      </p:sp>
      <p:sp>
        <p:nvSpPr>
          <p:cNvPr id="3" name="Footer Placeholder 2"/>
          <p:cNvSpPr>
            <a:spLocks noGrp="1"/>
          </p:cNvSpPr>
          <p:nvPr>
            <p:ph type="ftr" sz="quarter" idx="11"/>
          </p:nvPr>
        </p:nvSpPr>
        <p:spPr/>
        <p:txBody>
          <a:bodyPr/>
          <a:lstStyle/>
          <a:p>
            <a:endParaRPr lang="id-ID"/>
          </a:p>
        </p:txBody>
      </p:sp>
      <p:sp>
        <p:nvSpPr>
          <p:cNvPr id="4" name="Slide Number Placeholder 3"/>
          <p:cNvSpPr>
            <a:spLocks noGrp="1"/>
          </p:cNvSpPr>
          <p:nvPr>
            <p:ph type="sldNum" sz="quarter" idx="12"/>
          </p:nvPr>
        </p:nvSpPr>
        <p:spPr/>
        <p:txBody>
          <a:bodyPr/>
          <a:lstStyle/>
          <a:p>
            <a:fld id="{6CB2295E-5282-4239-9E56-DDE6A9674E9F}" type="slidenum">
              <a:rPr lang="id-ID" smtClean="0"/>
              <a:pPr/>
              <a:t>‹#›</a:t>
            </a:fld>
            <a:endParaRPr lang="id-ID"/>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id-ID"/>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6AE0465-1D43-45E6-B4D2-63DBAFA1D6C7}" type="datetimeFigureOut">
              <a:rPr lang="id-ID" smtClean="0"/>
              <a:pPr/>
              <a:t>15/02/2025</a:t>
            </a:fld>
            <a:endParaRPr lang="id-ID"/>
          </a:p>
        </p:txBody>
      </p:sp>
      <p:sp>
        <p:nvSpPr>
          <p:cNvPr id="6" name="Footer Placeholder 5"/>
          <p:cNvSpPr>
            <a:spLocks noGrp="1"/>
          </p:cNvSpPr>
          <p:nvPr>
            <p:ph type="ftr" sz="quarter" idx="11"/>
          </p:nvPr>
        </p:nvSpPr>
        <p:spPr/>
        <p:txBody>
          <a:bodyPr/>
          <a:lstStyle/>
          <a:p>
            <a:endParaRPr lang="id-ID"/>
          </a:p>
        </p:txBody>
      </p:sp>
      <p:sp>
        <p:nvSpPr>
          <p:cNvPr id="7" name="Slide Number Placeholder 6"/>
          <p:cNvSpPr>
            <a:spLocks noGrp="1"/>
          </p:cNvSpPr>
          <p:nvPr>
            <p:ph type="sldNum" sz="quarter" idx="12"/>
          </p:nvPr>
        </p:nvSpPr>
        <p:spPr/>
        <p:txBody>
          <a:bodyPr/>
          <a:lstStyle/>
          <a:p>
            <a:fld id="{6CB2295E-5282-4239-9E56-DDE6A9674E9F}" type="slidenum">
              <a:rPr lang="id-ID" smtClean="0"/>
              <a:pPr/>
              <a:t>‹#›</a:t>
            </a:fld>
            <a:endParaRPr lang="id-ID"/>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id-ID"/>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d-ID"/>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6AE0465-1D43-45E6-B4D2-63DBAFA1D6C7}" type="datetimeFigureOut">
              <a:rPr lang="id-ID" smtClean="0"/>
              <a:pPr/>
              <a:t>15/02/2025</a:t>
            </a:fld>
            <a:endParaRPr lang="id-ID"/>
          </a:p>
        </p:txBody>
      </p:sp>
      <p:sp>
        <p:nvSpPr>
          <p:cNvPr id="6" name="Footer Placeholder 5"/>
          <p:cNvSpPr>
            <a:spLocks noGrp="1"/>
          </p:cNvSpPr>
          <p:nvPr>
            <p:ph type="ftr" sz="quarter" idx="11"/>
          </p:nvPr>
        </p:nvSpPr>
        <p:spPr/>
        <p:txBody>
          <a:bodyPr/>
          <a:lstStyle/>
          <a:p>
            <a:endParaRPr lang="id-ID"/>
          </a:p>
        </p:txBody>
      </p:sp>
      <p:sp>
        <p:nvSpPr>
          <p:cNvPr id="7" name="Slide Number Placeholder 6"/>
          <p:cNvSpPr>
            <a:spLocks noGrp="1"/>
          </p:cNvSpPr>
          <p:nvPr>
            <p:ph type="sldNum" sz="quarter" idx="12"/>
          </p:nvPr>
        </p:nvSpPr>
        <p:spPr/>
        <p:txBody>
          <a:bodyPr/>
          <a:lstStyle/>
          <a:p>
            <a:fld id="{6CB2295E-5282-4239-9E56-DDE6A9674E9F}" type="slidenum">
              <a:rPr lang="id-ID" smtClean="0"/>
              <a:pPr/>
              <a:t>‹#›</a:t>
            </a:fld>
            <a:endParaRPr lang="id-ID"/>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id-ID"/>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Date Placeholder 3"/>
          <p:cNvSpPr>
            <a:spLocks noGrp="1"/>
          </p:cNvSpPr>
          <p:nvPr>
            <p:ph type="dt" sz="half" idx="10"/>
          </p:nvPr>
        </p:nvSpPr>
        <p:spPr/>
        <p:txBody>
          <a:bodyPr/>
          <a:lstStyle/>
          <a:p>
            <a:fld id="{F6AE0465-1D43-45E6-B4D2-63DBAFA1D6C7}" type="datetimeFigureOut">
              <a:rPr lang="id-ID" smtClean="0"/>
              <a:pPr/>
              <a:t>15/02/2025</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6CB2295E-5282-4239-9E56-DDE6A9674E9F}" type="slidenum">
              <a:rPr lang="id-ID" smtClean="0"/>
              <a:pPr/>
              <a:t>‹#›</a:t>
            </a:fld>
            <a:endParaRPr lang="id-ID"/>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id-ID"/>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Date Placeholder 3"/>
          <p:cNvSpPr>
            <a:spLocks noGrp="1"/>
          </p:cNvSpPr>
          <p:nvPr>
            <p:ph type="dt" sz="half" idx="10"/>
          </p:nvPr>
        </p:nvSpPr>
        <p:spPr/>
        <p:txBody>
          <a:bodyPr/>
          <a:lstStyle/>
          <a:p>
            <a:fld id="{F6AE0465-1D43-45E6-B4D2-63DBAFA1D6C7}" type="datetimeFigureOut">
              <a:rPr lang="id-ID" smtClean="0"/>
              <a:pPr/>
              <a:t>15/02/2025</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6CB2295E-5282-4239-9E56-DDE6A9674E9F}" type="slidenum">
              <a:rPr lang="id-ID" smtClean="0"/>
              <a:pPr/>
              <a:t>‹#›</a:t>
            </a:fld>
            <a:endParaRPr lang="id-ID"/>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id-ID"/>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6AE0465-1D43-45E6-B4D2-63DBAFA1D6C7}" type="datetimeFigureOut">
              <a:rPr lang="id-ID" smtClean="0"/>
              <a:pPr/>
              <a:t>15/02/2025</a:t>
            </a:fld>
            <a:endParaRPr lang="id-ID"/>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d-ID"/>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CB2295E-5282-4239-9E56-DDE6A9674E9F}" type="slidenum">
              <a:rPr lang="id-ID" smtClean="0"/>
              <a:pPr/>
              <a:t>‹#›</a:t>
            </a:fld>
            <a:endParaRPr lang="id-ID"/>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2.emf"/></Relationships>
</file>

<file path=ppt/slides/_rels/slide16.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4.bin"/><Relationship Id="rId13" Type="http://schemas.openxmlformats.org/officeDocument/2006/relationships/image" Target="../media/image8.wmf"/><Relationship Id="rId3" Type="http://schemas.openxmlformats.org/officeDocument/2006/relationships/image" Target="../media/image9.jpeg"/><Relationship Id="rId7" Type="http://schemas.openxmlformats.org/officeDocument/2006/relationships/image" Target="../media/image5.wmf"/><Relationship Id="rId12"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oleObject" Target="../embeddings/oleObject3.bin"/><Relationship Id="rId11" Type="http://schemas.openxmlformats.org/officeDocument/2006/relationships/image" Target="../media/image7.wmf"/><Relationship Id="rId5" Type="http://schemas.openxmlformats.org/officeDocument/2006/relationships/image" Target="../media/image4.wmf"/><Relationship Id="rId10" Type="http://schemas.openxmlformats.org/officeDocument/2006/relationships/oleObject" Target="../embeddings/oleObject5.bin"/><Relationship Id="rId4" Type="http://schemas.openxmlformats.org/officeDocument/2006/relationships/oleObject" Target="../embeddings/oleObject2.bin"/><Relationship Id="rId9" Type="http://schemas.openxmlformats.org/officeDocument/2006/relationships/image" Target="../media/image6.wmf"/><Relationship Id="rId14" Type="http://schemas.openxmlformats.org/officeDocument/2006/relationships/image" Target="../media/image10.jpe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6.xml"/><Relationship Id="rId1" Type="http://schemas.openxmlformats.org/officeDocument/2006/relationships/vmlDrawing" Target="../drawings/vmlDrawing3.vml"/><Relationship Id="rId6" Type="http://schemas.openxmlformats.org/officeDocument/2006/relationships/image" Target="../media/image12.wmf"/><Relationship Id="rId5" Type="http://schemas.openxmlformats.org/officeDocument/2006/relationships/oleObject" Target="../embeddings/oleObject8.bin"/><Relationship Id="rId4" Type="http://schemas.openxmlformats.org/officeDocument/2006/relationships/image" Target="../media/image11.wmf"/></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13.wmf"/></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8" Type="http://schemas.openxmlformats.org/officeDocument/2006/relationships/oleObject" Target="../embeddings/oleObject10.bin"/><Relationship Id="rId3" Type="http://schemas.openxmlformats.org/officeDocument/2006/relationships/notesSlide" Target="../notesSlides/notesSlide5.xml"/><Relationship Id="rId7" Type="http://schemas.openxmlformats.org/officeDocument/2006/relationships/image" Target="../media/image18.png"/><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image" Target="../media/image17.emf"/><Relationship Id="rId5" Type="http://schemas.openxmlformats.org/officeDocument/2006/relationships/image" Target="../media/image16.emf"/><Relationship Id="rId4" Type="http://schemas.openxmlformats.org/officeDocument/2006/relationships/image" Target="../media/image15.png"/><Relationship Id="rId9" Type="http://schemas.openxmlformats.org/officeDocument/2006/relationships/image" Target="../media/image14.wmf"/></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id-ID" dirty="0"/>
              <a:t>Applied Database III</a:t>
            </a:r>
          </a:p>
        </p:txBody>
      </p:sp>
      <p:sp>
        <p:nvSpPr>
          <p:cNvPr id="3" name="Subtitle 2"/>
          <p:cNvSpPr>
            <a:spLocks noGrp="1"/>
          </p:cNvSpPr>
          <p:nvPr>
            <p:ph type="subTitle" idx="1"/>
          </p:nvPr>
        </p:nvSpPr>
        <p:spPr/>
        <p:txBody>
          <a:bodyPr/>
          <a:lstStyle/>
          <a:p>
            <a:r>
              <a:rPr lang="id-ID" dirty="0"/>
              <a:t>Yan Puspitarani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FAAE22-24C8-4F0B-9105-85DAF6901527}"/>
              </a:ext>
            </a:extLst>
          </p:cNvPr>
          <p:cNvSpPr>
            <a:spLocks noGrp="1"/>
          </p:cNvSpPr>
          <p:nvPr>
            <p:ph type="title"/>
          </p:nvPr>
        </p:nvSpPr>
        <p:spPr/>
        <p:txBody>
          <a:bodyPr/>
          <a:lstStyle/>
          <a:p>
            <a:r>
              <a:rPr lang="en-US" dirty="0" err="1"/>
              <a:t>Grup</a:t>
            </a:r>
            <a:r>
              <a:rPr lang="en-US" dirty="0"/>
              <a:t> LINE</a:t>
            </a:r>
          </a:p>
        </p:txBody>
      </p:sp>
      <p:pic>
        <p:nvPicPr>
          <p:cNvPr id="5" name="Content Placeholder 4">
            <a:extLst>
              <a:ext uri="{FF2B5EF4-FFF2-40B4-BE49-F238E27FC236}">
                <a16:creationId xmlns:a16="http://schemas.microsoft.com/office/drawing/2014/main" id="{EDED0654-A25D-453B-B399-C46F9BF87A6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76719" y="1600200"/>
            <a:ext cx="7990561" cy="4525963"/>
          </a:xfrm>
        </p:spPr>
      </p:pic>
    </p:spTree>
    <p:extLst>
      <p:ext uri="{BB962C8B-B14F-4D97-AF65-F5344CB8AC3E}">
        <p14:creationId xmlns:p14="http://schemas.microsoft.com/office/powerpoint/2010/main" val="11194104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dirty="0"/>
              <a:t>CPMK</a:t>
            </a:r>
          </a:p>
        </p:txBody>
      </p:sp>
      <p:sp>
        <p:nvSpPr>
          <p:cNvPr id="3" name="Content Placeholder 2"/>
          <p:cNvSpPr>
            <a:spLocks noGrp="1"/>
          </p:cNvSpPr>
          <p:nvPr>
            <p:ph idx="1"/>
          </p:nvPr>
        </p:nvSpPr>
        <p:spPr/>
        <p:txBody>
          <a:bodyPr/>
          <a:lstStyle/>
          <a:p>
            <a:r>
              <a:rPr lang="id-ID" dirty="0"/>
              <a:t>Setelah </a:t>
            </a:r>
            <a:r>
              <a:rPr lang="en-US" dirty="0" err="1"/>
              <a:t>menyelesaik</a:t>
            </a:r>
            <a:r>
              <a:rPr lang="id-ID" dirty="0"/>
              <a:t>an </a:t>
            </a:r>
            <a:r>
              <a:rPr lang="en-US" dirty="0" err="1"/>
              <a:t>matakuliah</a:t>
            </a:r>
            <a:r>
              <a:rPr lang="en-US" dirty="0"/>
              <a:t> </a:t>
            </a:r>
            <a:r>
              <a:rPr lang="en-US" dirty="0" err="1"/>
              <a:t>ini</a:t>
            </a:r>
            <a:r>
              <a:rPr lang="id-ID" dirty="0"/>
              <a:t>, mahasiswa semester 7 dapat menyelesaikan kasus-kasus terkait data mining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dirty="0"/>
              <a:t>Matkul prasyarat</a:t>
            </a:r>
          </a:p>
        </p:txBody>
      </p:sp>
      <p:sp>
        <p:nvSpPr>
          <p:cNvPr id="3" name="Content Placeholder 2"/>
          <p:cNvSpPr>
            <a:spLocks noGrp="1"/>
          </p:cNvSpPr>
          <p:nvPr>
            <p:ph idx="1"/>
          </p:nvPr>
        </p:nvSpPr>
        <p:spPr/>
        <p:txBody>
          <a:bodyPr/>
          <a:lstStyle/>
          <a:p>
            <a:r>
              <a:rPr lang="id-ID" dirty="0"/>
              <a:t>Applied Database I </a:t>
            </a:r>
          </a:p>
          <a:p>
            <a:r>
              <a:rPr lang="id-ID" dirty="0"/>
              <a:t>Applied Database II</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dirty="0"/>
              <a:t>Matkul Dasar</a:t>
            </a:r>
          </a:p>
        </p:txBody>
      </p:sp>
      <p:sp>
        <p:nvSpPr>
          <p:cNvPr id="3" name="Content Placeholder 2"/>
          <p:cNvSpPr>
            <a:spLocks noGrp="1"/>
          </p:cNvSpPr>
          <p:nvPr>
            <p:ph idx="1"/>
          </p:nvPr>
        </p:nvSpPr>
        <p:spPr/>
        <p:txBody>
          <a:bodyPr/>
          <a:lstStyle/>
          <a:p>
            <a:r>
              <a:rPr lang="en-US" dirty="0" err="1"/>
              <a:t>Algoritma</a:t>
            </a:r>
            <a:r>
              <a:rPr lang="en-US" dirty="0"/>
              <a:t> </a:t>
            </a:r>
            <a:r>
              <a:rPr lang="en-US" dirty="0" err="1"/>
              <a:t>dan</a:t>
            </a:r>
            <a:r>
              <a:rPr lang="en-US" dirty="0"/>
              <a:t> </a:t>
            </a:r>
            <a:r>
              <a:rPr lang="en-US" dirty="0" err="1"/>
              <a:t>Struktur</a:t>
            </a:r>
            <a:r>
              <a:rPr lang="en-US" dirty="0"/>
              <a:t> Data</a:t>
            </a:r>
          </a:p>
          <a:p>
            <a:r>
              <a:rPr lang="en-US" dirty="0" err="1"/>
              <a:t>Statistika</a:t>
            </a:r>
            <a:r>
              <a:rPr lang="en-US" dirty="0"/>
              <a:t> </a:t>
            </a:r>
            <a:r>
              <a:rPr lang="en-US" dirty="0" err="1"/>
              <a:t>Dasar</a:t>
            </a:r>
            <a:endParaRPr lang="en-US" dirty="0"/>
          </a:p>
          <a:p>
            <a:r>
              <a:rPr lang="en-US" dirty="0" err="1"/>
              <a:t>Kecerdasan</a:t>
            </a:r>
            <a:r>
              <a:rPr lang="en-US" dirty="0"/>
              <a:t> </a:t>
            </a:r>
            <a:r>
              <a:rPr lang="en-US" dirty="0" err="1"/>
              <a:t>Buatan</a:t>
            </a:r>
            <a:endParaRPr lang="en-US" dirty="0"/>
          </a:p>
          <a:p>
            <a:r>
              <a:rPr lang="en-US" dirty="0" err="1"/>
              <a:t>Sistem</a:t>
            </a:r>
            <a:r>
              <a:rPr lang="en-US" dirty="0"/>
              <a:t> Basis Data</a:t>
            </a:r>
            <a:endParaRPr lang="id-ID"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dirty="0"/>
              <a:t>Referensi</a:t>
            </a:r>
          </a:p>
        </p:txBody>
      </p:sp>
      <p:sp>
        <p:nvSpPr>
          <p:cNvPr id="3" name="Content Placeholder 2"/>
          <p:cNvSpPr>
            <a:spLocks noGrp="1"/>
          </p:cNvSpPr>
          <p:nvPr>
            <p:ph idx="1"/>
          </p:nvPr>
        </p:nvSpPr>
        <p:spPr/>
        <p:txBody>
          <a:bodyPr/>
          <a:lstStyle/>
          <a:p>
            <a:pPr>
              <a:lnSpc>
                <a:spcPct val="90000"/>
              </a:lnSpc>
            </a:pPr>
            <a:r>
              <a:rPr lang="en-US" b="1" dirty="0" err="1"/>
              <a:t>Jiawaei</a:t>
            </a:r>
            <a:r>
              <a:rPr lang="en-US" b="1" dirty="0"/>
              <a:t> Han, Michelle </a:t>
            </a:r>
            <a:r>
              <a:rPr lang="en-US" b="1" dirty="0" err="1"/>
              <a:t>Kamber</a:t>
            </a:r>
            <a:r>
              <a:rPr lang="en-US" b="1" dirty="0"/>
              <a:t>, </a:t>
            </a:r>
            <a:r>
              <a:rPr lang="en-US" b="1" i="1" dirty="0"/>
              <a:t>Data Mining Concept and Techniques</a:t>
            </a:r>
            <a:r>
              <a:rPr lang="en-US" b="1" dirty="0"/>
              <a:t>, 2nd Edition, McGraw-Hill, 2006. </a:t>
            </a:r>
            <a:endParaRPr lang="en-US" dirty="0"/>
          </a:p>
          <a:p>
            <a:pPr>
              <a:lnSpc>
                <a:spcPct val="90000"/>
              </a:lnSpc>
            </a:pPr>
            <a:r>
              <a:rPr lang="en-GB" b="1" dirty="0"/>
              <a:t>Pang </a:t>
            </a:r>
            <a:r>
              <a:rPr lang="en-GB" b="1" dirty="0" err="1"/>
              <a:t>NIng</a:t>
            </a:r>
            <a:r>
              <a:rPr lang="en-GB" b="1" dirty="0"/>
              <a:t> Tan, </a:t>
            </a:r>
            <a:r>
              <a:rPr lang="en-GB" b="1" i="1" dirty="0"/>
              <a:t>Introduction to Data Mining</a:t>
            </a:r>
          </a:p>
          <a:p>
            <a:pPr>
              <a:lnSpc>
                <a:spcPct val="90000"/>
              </a:lnSpc>
            </a:pPr>
            <a:r>
              <a:rPr lang="en-US" b="1" dirty="0"/>
              <a:t>Related Books</a:t>
            </a:r>
          </a:p>
          <a:p>
            <a:pPr>
              <a:lnSpc>
                <a:spcPct val="90000"/>
              </a:lnSpc>
            </a:pPr>
            <a:r>
              <a:rPr lang="en-US" b="1" dirty="0"/>
              <a:t>Related Journals</a:t>
            </a:r>
          </a:p>
          <a:p>
            <a:pPr>
              <a:lnSpc>
                <a:spcPct val="90000"/>
              </a:lnSpc>
            </a:pPr>
            <a:r>
              <a:rPr lang="en-US" b="1" dirty="0"/>
              <a:t>Related Software and Tools Data Mining</a:t>
            </a:r>
          </a:p>
          <a:p>
            <a:endParaRPr lang="id-ID"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dirty="0"/>
              <a:t>Aturan Perkuliahan</a:t>
            </a:r>
          </a:p>
        </p:txBody>
      </p:sp>
      <p:sp>
        <p:nvSpPr>
          <p:cNvPr id="3" name="Content Placeholder 2"/>
          <p:cNvSpPr>
            <a:spLocks noGrp="1"/>
          </p:cNvSpPr>
          <p:nvPr>
            <p:ph idx="1"/>
          </p:nvPr>
        </p:nvSpPr>
        <p:spPr/>
        <p:txBody>
          <a:bodyPr>
            <a:normAutofit fontScale="77500" lnSpcReduction="20000"/>
          </a:bodyPr>
          <a:lstStyle/>
          <a:p>
            <a:r>
              <a:rPr lang="id-ID" dirty="0"/>
              <a:t>Perkuliahan dilaksanakan secara online melalui kuliahonline.widyatama.ac.id </a:t>
            </a:r>
          </a:p>
          <a:p>
            <a:r>
              <a:rPr lang="id-ID" dirty="0"/>
              <a:t>Tatap muka melalui zoom meeting atau google meet dilakukan berdasarkan kesepakatan pada pertemuan  non-praktikum</a:t>
            </a:r>
          </a:p>
          <a:p>
            <a:r>
              <a:rPr lang="id-ID" dirty="0"/>
              <a:t>Tatap muka di kelas dilakukan ketika praktikum</a:t>
            </a:r>
          </a:p>
          <a:p>
            <a:r>
              <a:rPr lang="id-ID" dirty="0"/>
              <a:t>Segala informasi akan diinfokan melalui grup Line/WhatsApp</a:t>
            </a:r>
          </a:p>
          <a:p>
            <a:r>
              <a:rPr lang="id-ID" dirty="0"/>
              <a:t>Tidak ada toleransi keterlambatan pengumpulan tugas/quiz</a:t>
            </a:r>
          </a:p>
          <a:p>
            <a:r>
              <a:rPr lang="id-ID" dirty="0"/>
              <a:t>Akses quiz hanya dibuka 24 jam</a:t>
            </a:r>
          </a:p>
          <a:p>
            <a:r>
              <a:rPr lang="id-ID" dirty="0"/>
              <a:t>Akses Tugas hanya dibuka sampai H-2 perkuliahan pertemuan berikutnya. Jika terlewat, tidak akan bisa submit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dirty="0"/>
              <a:t>Komponen Penilaian</a:t>
            </a:r>
          </a:p>
        </p:txBody>
      </p:sp>
      <p:sp>
        <p:nvSpPr>
          <p:cNvPr id="3" name="Content Placeholder 2"/>
          <p:cNvSpPr>
            <a:spLocks noGrp="1"/>
          </p:cNvSpPr>
          <p:nvPr>
            <p:ph idx="1"/>
          </p:nvPr>
        </p:nvSpPr>
        <p:spPr/>
        <p:txBody>
          <a:bodyPr/>
          <a:lstStyle/>
          <a:p>
            <a:r>
              <a:rPr lang="id-ID" dirty="0"/>
              <a:t>10 % kehadiran,</a:t>
            </a:r>
          </a:p>
          <a:p>
            <a:r>
              <a:rPr lang="id-ID" dirty="0"/>
              <a:t>25% UTS, mengerjakan soal kasus</a:t>
            </a:r>
          </a:p>
          <a:p>
            <a:r>
              <a:rPr lang="id-ID" dirty="0"/>
              <a:t>25% UAS, mengerjakan soal kasus</a:t>
            </a:r>
          </a:p>
          <a:p>
            <a:r>
              <a:rPr lang="id-ID" dirty="0"/>
              <a:t>40% Tugas , ada project Tugas Besar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dirty="0"/>
              <a:t>Materi</a:t>
            </a:r>
          </a:p>
        </p:txBody>
      </p:sp>
      <p:sp>
        <p:nvSpPr>
          <p:cNvPr id="3" name="Content Placeholder 2"/>
          <p:cNvSpPr>
            <a:spLocks noGrp="1"/>
          </p:cNvSpPr>
          <p:nvPr>
            <p:ph idx="1"/>
          </p:nvPr>
        </p:nvSpPr>
        <p:spPr/>
        <p:txBody>
          <a:bodyPr>
            <a:normAutofit lnSpcReduction="10000"/>
          </a:bodyPr>
          <a:lstStyle/>
          <a:p>
            <a:pPr marL="514350" lvl="0" indent="-514350">
              <a:buFont typeface="+mj-lt"/>
              <a:buAutoNum type="arabicPeriod"/>
            </a:pPr>
            <a:r>
              <a:rPr lang="id-ID" dirty="0"/>
              <a:t>Pendahuluan Data Mining</a:t>
            </a:r>
          </a:p>
          <a:p>
            <a:pPr marL="514350" lvl="0" indent="-514350">
              <a:buFont typeface="+mj-lt"/>
              <a:buAutoNum type="arabicPeriod"/>
            </a:pPr>
            <a:r>
              <a:rPr lang="id-ID" dirty="0"/>
              <a:t>Jenis-jenis Data</a:t>
            </a:r>
          </a:p>
          <a:p>
            <a:pPr marL="514350" lvl="0" indent="-514350">
              <a:buFont typeface="+mj-lt"/>
              <a:buAutoNum type="arabicPeriod"/>
            </a:pPr>
            <a:r>
              <a:rPr lang="id-ID" dirty="0"/>
              <a:t>Data Preprocessing</a:t>
            </a:r>
          </a:p>
          <a:p>
            <a:pPr marL="514350" lvl="0" indent="-514350">
              <a:buFont typeface="+mj-lt"/>
              <a:buAutoNum type="arabicPeriod"/>
            </a:pPr>
            <a:r>
              <a:rPr lang="id-ID" dirty="0"/>
              <a:t>Classification </a:t>
            </a:r>
          </a:p>
          <a:p>
            <a:pPr marL="514350" lvl="0" indent="-514350">
              <a:buFont typeface="+mj-lt"/>
              <a:buAutoNum type="arabicPeriod"/>
            </a:pPr>
            <a:r>
              <a:rPr lang="id-ID" dirty="0"/>
              <a:t>Association Analysis</a:t>
            </a:r>
          </a:p>
          <a:p>
            <a:pPr marL="514350" lvl="0" indent="-514350">
              <a:buFont typeface="+mj-lt"/>
              <a:buAutoNum type="arabicPeriod"/>
            </a:pPr>
            <a:r>
              <a:rPr lang="id-ID" dirty="0"/>
              <a:t>Sequence &amp; Graph Mining</a:t>
            </a:r>
          </a:p>
          <a:p>
            <a:pPr marL="514350" lvl="0" indent="-514350">
              <a:buFont typeface="+mj-lt"/>
              <a:buAutoNum type="arabicPeriod"/>
            </a:pPr>
            <a:r>
              <a:rPr lang="id-ID" dirty="0"/>
              <a:t>Clustering</a:t>
            </a:r>
          </a:p>
          <a:p>
            <a:pPr marL="514350" lvl="0" indent="-514350">
              <a:buFont typeface="+mj-lt"/>
              <a:buAutoNum type="arabicPeriod"/>
            </a:pPr>
            <a:r>
              <a:rPr lang="id-ID" dirty="0"/>
              <a:t>Anomaly Detection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id-ID" dirty="0"/>
              <a:t>Penunjang Mata Kuliah untuk Praktikum</a:t>
            </a:r>
          </a:p>
        </p:txBody>
      </p:sp>
      <p:sp>
        <p:nvSpPr>
          <p:cNvPr id="3" name="Content Placeholder 2"/>
          <p:cNvSpPr>
            <a:spLocks noGrp="1"/>
          </p:cNvSpPr>
          <p:nvPr>
            <p:ph idx="1"/>
          </p:nvPr>
        </p:nvSpPr>
        <p:spPr/>
        <p:txBody>
          <a:bodyPr/>
          <a:lstStyle/>
          <a:p>
            <a:r>
              <a:rPr lang="id-ID" dirty="0"/>
              <a:t>Weka</a:t>
            </a:r>
          </a:p>
          <a:p>
            <a:r>
              <a:rPr lang="id-ID" dirty="0"/>
              <a:t>Rapid Miner</a:t>
            </a:r>
          </a:p>
          <a:p>
            <a:r>
              <a:rPr lang="id-ID" dirty="0"/>
              <a:t>Python</a:t>
            </a:r>
          </a:p>
          <a:p>
            <a:r>
              <a:rPr lang="id-ID" dirty="0"/>
              <a:t>Aplikasi Data Mining lain</a:t>
            </a:r>
          </a:p>
          <a:p>
            <a:endParaRPr lang="id-ID"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dirty="0"/>
              <a:t>Materi Kuliah Hari ini</a:t>
            </a:r>
          </a:p>
        </p:txBody>
      </p:sp>
      <p:sp>
        <p:nvSpPr>
          <p:cNvPr id="3" name="Content Placeholder 2"/>
          <p:cNvSpPr>
            <a:spLocks noGrp="1"/>
          </p:cNvSpPr>
          <p:nvPr>
            <p:ph idx="1"/>
          </p:nvPr>
        </p:nvSpPr>
        <p:spPr/>
        <p:txBody>
          <a:bodyPr/>
          <a:lstStyle/>
          <a:p>
            <a:r>
              <a:rPr lang="id-ID" dirty="0"/>
              <a:t>Data</a:t>
            </a:r>
          </a:p>
          <a:p>
            <a:r>
              <a:rPr lang="id-ID" dirty="0"/>
              <a:t>Konsep Data Mining</a:t>
            </a:r>
          </a:p>
          <a:p>
            <a:r>
              <a:rPr lang="id-ID" dirty="0"/>
              <a:t>KDD</a:t>
            </a:r>
          </a:p>
          <a:p>
            <a:r>
              <a:rPr lang="id-ID" dirty="0"/>
              <a:t>Task Data Mining</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id-ID" dirty="0"/>
              <a:t>Capaian Pembelajaran materi hari ini</a:t>
            </a:r>
          </a:p>
        </p:txBody>
      </p:sp>
      <p:sp>
        <p:nvSpPr>
          <p:cNvPr id="3" name="Content Placeholder 2"/>
          <p:cNvSpPr>
            <a:spLocks noGrp="1"/>
          </p:cNvSpPr>
          <p:nvPr>
            <p:ph idx="1"/>
          </p:nvPr>
        </p:nvSpPr>
        <p:spPr/>
        <p:txBody>
          <a:bodyPr/>
          <a:lstStyle/>
          <a:p>
            <a:r>
              <a:rPr lang="id-ID"/>
              <a:t>Setelah menyelesaikan materi hari ini, diharapkan mahasiswa m</a:t>
            </a:r>
            <a:r>
              <a:rPr lang="en-US"/>
              <a:t>ampu</a:t>
            </a:r>
            <a:r>
              <a:rPr lang="en-US" dirty="0"/>
              <a:t> </a:t>
            </a:r>
            <a:r>
              <a:rPr lang="en-US" dirty="0" err="1"/>
              <a:t>menjelaskan</a:t>
            </a:r>
            <a:r>
              <a:rPr lang="en-US" dirty="0"/>
              <a:t> </a:t>
            </a:r>
            <a:r>
              <a:rPr lang="en-US" dirty="0" err="1"/>
              <a:t>teori</a:t>
            </a:r>
            <a:r>
              <a:rPr lang="en-US" dirty="0"/>
              <a:t> </a:t>
            </a:r>
            <a:r>
              <a:rPr lang="en-US" dirty="0" err="1"/>
              <a:t>dan</a:t>
            </a:r>
            <a:r>
              <a:rPr lang="en-US" dirty="0"/>
              <a:t> </a:t>
            </a:r>
            <a:r>
              <a:rPr lang="en-US" dirty="0" err="1"/>
              <a:t>konsep</a:t>
            </a:r>
            <a:r>
              <a:rPr lang="en-US" dirty="0"/>
              <a:t> data mining</a:t>
            </a:r>
            <a:endParaRPr lang="id-ID"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id-ID" dirty="0"/>
              <a:t>Data Mining</a:t>
            </a:r>
          </a:p>
        </p:txBody>
      </p:sp>
      <p:sp>
        <p:nvSpPr>
          <p:cNvPr id="5" name="Subtitle 4"/>
          <p:cNvSpPr>
            <a:spLocks noGrp="1"/>
          </p:cNvSpPr>
          <p:nvPr>
            <p:ph type="subTitle" idx="1"/>
          </p:nvPr>
        </p:nvSpPr>
        <p:spPr/>
        <p:txBody>
          <a:bodyPr/>
          <a:lstStyle/>
          <a:p>
            <a:r>
              <a:rPr lang="id-ID" dirty="0"/>
              <a:t>Pertemuan 1</a:t>
            </a:r>
          </a:p>
          <a:p>
            <a:r>
              <a:rPr lang="id-ID" dirty="0"/>
              <a:t>Yan Puspitarani</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a:xfrm>
            <a:off x="228600" y="0"/>
            <a:ext cx="8585200" cy="685800"/>
          </a:xfrm>
        </p:spPr>
        <p:txBody>
          <a:bodyPr>
            <a:normAutofit fontScale="90000"/>
          </a:bodyPr>
          <a:lstStyle/>
          <a:p>
            <a:r>
              <a:rPr lang="id-ID" dirty="0"/>
              <a:t>Perhatikan...</a:t>
            </a:r>
            <a:endParaRPr lang="en-US" dirty="0"/>
          </a:p>
        </p:txBody>
      </p:sp>
      <p:sp>
        <p:nvSpPr>
          <p:cNvPr id="5" name="Text Box 6"/>
          <p:cNvSpPr txBox="1">
            <a:spLocks noChangeArrowheads="1"/>
          </p:cNvSpPr>
          <p:nvPr/>
        </p:nvSpPr>
        <p:spPr bwMode="auto">
          <a:xfrm>
            <a:off x="3962400" y="1233488"/>
            <a:ext cx="5029200" cy="3913892"/>
          </a:xfrm>
          <a:prstGeom prst="rect">
            <a:avLst/>
          </a:prstGeom>
          <a:noFill/>
          <a:ln w="12700">
            <a:solidFill>
              <a:schemeClr val="tx1"/>
            </a:solidFill>
            <a:miter lim="800000"/>
            <a:headEnd/>
            <a:tailEnd/>
          </a:ln>
          <a:effectLst/>
        </p:spPr>
        <p:txBody>
          <a:bodyPr lIns="0" rIns="0">
            <a:spAutoFit/>
          </a:bodyPr>
          <a:lstStyle/>
          <a:p>
            <a:pPr>
              <a:lnSpc>
                <a:spcPct val="95000"/>
              </a:lnSpc>
              <a:spcBef>
                <a:spcPct val="20000"/>
              </a:spcBef>
              <a:spcAft>
                <a:spcPts val="400"/>
              </a:spcAft>
              <a:buClr>
                <a:srgbClr val="0C7B9C"/>
              </a:buClr>
              <a:buSzPct val="75000"/>
              <a:buFont typeface="Monotype Sorts" pitchFamily="2" charset="2"/>
              <a:buChar char="l"/>
            </a:pPr>
            <a:r>
              <a:rPr lang="en-US" sz="2800" dirty="0"/>
              <a:t> </a:t>
            </a:r>
            <a:r>
              <a:rPr lang="en-US" sz="2800" b="0" dirty="0"/>
              <a:t>Certain names are more prevalent in certain US locations (O’Brien, </a:t>
            </a:r>
            <a:r>
              <a:rPr lang="en-US" sz="2800" b="0" dirty="0" err="1"/>
              <a:t>O’Rurke</a:t>
            </a:r>
            <a:r>
              <a:rPr lang="en-US" sz="2800" b="0" dirty="0"/>
              <a:t>, O’Reilly… in Boston area)</a:t>
            </a:r>
            <a:endParaRPr lang="id-ID" sz="2800" b="0" dirty="0"/>
          </a:p>
          <a:p>
            <a:pPr>
              <a:lnSpc>
                <a:spcPct val="95000"/>
              </a:lnSpc>
              <a:spcBef>
                <a:spcPct val="20000"/>
              </a:spcBef>
              <a:spcAft>
                <a:spcPts val="400"/>
              </a:spcAft>
              <a:buClr>
                <a:srgbClr val="0C7B9C"/>
              </a:buClr>
              <a:buSzPct val="75000"/>
              <a:buFont typeface="Monotype Sorts" pitchFamily="2" charset="2"/>
              <a:buChar char="l"/>
            </a:pPr>
            <a:r>
              <a:rPr lang="en-US" sz="2800" b="0" dirty="0"/>
              <a:t>Group together similar documents returned by search engine according to their context (e.g. Amazon rainforest, Amazon.com,)</a:t>
            </a:r>
          </a:p>
        </p:txBody>
      </p:sp>
      <p:sp>
        <p:nvSpPr>
          <p:cNvPr id="6" name="Text Box 7"/>
          <p:cNvSpPr txBox="1">
            <a:spLocks noChangeArrowheads="1"/>
          </p:cNvSpPr>
          <p:nvPr/>
        </p:nvSpPr>
        <p:spPr bwMode="auto">
          <a:xfrm>
            <a:off x="304800" y="1231900"/>
            <a:ext cx="3429000" cy="3562001"/>
          </a:xfrm>
          <a:prstGeom prst="rect">
            <a:avLst/>
          </a:prstGeom>
          <a:noFill/>
          <a:ln w="12700">
            <a:solidFill>
              <a:schemeClr val="tx1"/>
            </a:solidFill>
            <a:miter lim="800000"/>
            <a:headEnd/>
            <a:tailEnd/>
          </a:ln>
          <a:effectLst/>
        </p:spPr>
        <p:txBody>
          <a:bodyPr>
            <a:spAutoFit/>
          </a:bodyPr>
          <a:lstStyle/>
          <a:p>
            <a:pPr>
              <a:lnSpc>
                <a:spcPct val="95000"/>
              </a:lnSpc>
              <a:spcBef>
                <a:spcPct val="20000"/>
              </a:spcBef>
              <a:spcAft>
                <a:spcPts val="400"/>
              </a:spcAft>
              <a:buClr>
                <a:srgbClr val="0C7B9C"/>
              </a:buClr>
              <a:buSzPct val="75000"/>
              <a:buFont typeface="Monotype Sorts" pitchFamily="2" charset="2"/>
              <a:buChar char="l"/>
            </a:pPr>
            <a:r>
              <a:rPr lang="en-US" sz="2800" b="0" dirty="0"/>
              <a:t>Look up phone number in phone directory</a:t>
            </a:r>
            <a:endParaRPr lang="id-ID" sz="2800" b="0" dirty="0"/>
          </a:p>
          <a:p>
            <a:pPr>
              <a:lnSpc>
                <a:spcPct val="95000"/>
              </a:lnSpc>
              <a:spcBef>
                <a:spcPct val="20000"/>
              </a:spcBef>
              <a:spcAft>
                <a:spcPts val="400"/>
              </a:spcAft>
              <a:buClr>
                <a:srgbClr val="0C7B9C"/>
              </a:buClr>
              <a:buSzPct val="75000"/>
              <a:buFont typeface="Monotype Sorts" pitchFamily="2" charset="2"/>
              <a:buChar char="l"/>
            </a:pPr>
            <a:r>
              <a:rPr lang="en-US" sz="2800" b="0" dirty="0"/>
              <a:t>Query a Web search engine for information about “Amazon”</a:t>
            </a:r>
          </a:p>
          <a:p>
            <a:pPr>
              <a:spcBef>
                <a:spcPct val="50000"/>
              </a:spcBef>
            </a:pP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3"/>
          <p:cNvSpPr>
            <a:spLocks noGrp="1" noChangeArrowheads="1"/>
          </p:cNvSpPr>
          <p:nvPr>
            <p:ph type="title"/>
          </p:nvPr>
        </p:nvSpPr>
        <p:spPr>
          <a:xfrm>
            <a:off x="381000" y="152400"/>
            <a:ext cx="8280400" cy="533400"/>
          </a:xfrm>
        </p:spPr>
        <p:txBody>
          <a:bodyPr>
            <a:normAutofit fontScale="90000"/>
          </a:bodyPr>
          <a:lstStyle/>
          <a:p>
            <a:r>
              <a:rPr lang="en-US"/>
              <a:t>What is Data Mining?</a:t>
            </a:r>
          </a:p>
        </p:txBody>
      </p:sp>
      <p:sp>
        <p:nvSpPr>
          <p:cNvPr id="13" name="Rectangle 4"/>
          <p:cNvSpPr txBox="1">
            <a:spLocks noChangeArrowheads="1"/>
          </p:cNvSpPr>
          <p:nvPr/>
        </p:nvSpPr>
        <p:spPr>
          <a:xfrm>
            <a:off x="411163" y="1143000"/>
            <a:ext cx="8351837" cy="1600200"/>
          </a:xfrm>
          <a:prstGeom prst="rect">
            <a:avLst/>
          </a:prstGeom>
        </p:spPr>
        <p:txBody>
          <a:bodyPr vert="horz" lIns="91440" tIns="45720" rIns="91440" bIns="45720" rtlCol="0">
            <a:normAutofit/>
          </a:bodyPr>
          <a:lstStyle/>
          <a:p>
            <a:pPr marL="285750" marR="0" lvl="0" indent="-285750" algn="l" defTabSz="914400" rtl="0" eaLnBrk="1" fontAlgn="auto" latinLnBrk="0" hangingPunct="1">
              <a:lnSpc>
                <a:spcPct val="95000"/>
              </a:lnSpc>
              <a:spcBef>
                <a:spcPct val="20000"/>
              </a:spcBef>
              <a:spcAft>
                <a:spcPts val="0"/>
              </a:spcAft>
              <a:buClrTx/>
              <a:buSzTx/>
              <a:buFont typeface="Arial" pitchFamily="34" charset="0"/>
              <a:buChar char="•"/>
              <a:tabLst/>
              <a:defRPr/>
            </a:pPr>
            <a:r>
              <a:rPr kumimoji="0" lang="en-US" sz="3200" b="1" i="0" u="none" strike="noStrike" kern="1200" cap="none" spc="0" normalizeH="0" baseline="0" noProof="0">
                <a:ln>
                  <a:noFill/>
                </a:ln>
                <a:solidFill>
                  <a:schemeClr val="tx1"/>
                </a:solidFill>
                <a:effectLst/>
                <a:uLnTx/>
                <a:uFillTx/>
                <a:latin typeface="+mn-lt"/>
                <a:ea typeface="+mn-ea"/>
                <a:cs typeface="+mn-cs"/>
              </a:rPr>
              <a:t>Non-trivial extraction of implicit, previously unknown and potentially useful information from data</a:t>
            </a:r>
          </a:p>
          <a:p>
            <a:pPr marL="742950" marR="0" lvl="1" indent="-285750" algn="l" defTabSz="914400" rtl="0" eaLnBrk="1" fontAlgn="auto" latinLnBrk="0" hangingPunct="1">
              <a:lnSpc>
                <a:spcPct val="95000"/>
              </a:lnSpc>
              <a:spcBef>
                <a:spcPct val="20000"/>
              </a:spcBef>
              <a:spcAft>
                <a:spcPts val="0"/>
              </a:spcAft>
              <a:buClrTx/>
              <a:buSzTx/>
              <a:buFont typeface="Arial" pitchFamily="34" charset="0"/>
              <a:buChar char="–"/>
              <a:tabLst/>
              <a:defRPr/>
            </a:pPr>
            <a:endParaRPr kumimoji="0" lang="en-US" sz="2800" b="1" i="0" u="none" strike="noStrike" kern="1200" cap="none" spc="0" normalizeH="0" baseline="0" noProof="0" dirty="0">
              <a:ln>
                <a:noFill/>
              </a:ln>
              <a:solidFill>
                <a:schemeClr val="tx1"/>
              </a:solidFill>
              <a:effectLst/>
              <a:uLnTx/>
              <a:uFillTx/>
              <a:latin typeface="+mn-lt"/>
              <a:ea typeface="+mn-ea"/>
              <a:cs typeface="+mn-cs"/>
            </a:endParaRPr>
          </a:p>
        </p:txBody>
      </p:sp>
      <p:graphicFrame>
        <p:nvGraphicFramePr>
          <p:cNvPr id="14" name="Object 15"/>
          <p:cNvGraphicFramePr>
            <a:graphicFrameLocks noGrp="1" noChangeAspect="1"/>
          </p:cNvGraphicFramePr>
          <p:nvPr>
            <p:ph sz="half" idx="4294967295"/>
          </p:nvPr>
        </p:nvGraphicFramePr>
        <p:xfrm>
          <a:off x="457200" y="3135313"/>
          <a:ext cx="7847013" cy="2349500"/>
        </p:xfrm>
        <a:graphic>
          <a:graphicData uri="http://schemas.openxmlformats.org/presentationml/2006/ole">
            <mc:AlternateContent xmlns:mc="http://schemas.openxmlformats.org/markup-compatibility/2006">
              <mc:Choice xmlns:v="urn:schemas-microsoft-com:vml" Requires="v">
                <p:oleObj spid="_x0000_s1029" name="Visio" r:id="rId3" imgW="9702546" imgH="2905754" progId="Visio.Drawing.11">
                  <p:embed/>
                </p:oleObj>
              </mc:Choice>
              <mc:Fallback>
                <p:oleObj name="Visio" r:id="rId3" imgW="9702546" imgH="2905754" progId="Visio.Drawing.11">
                  <p:embed/>
                  <p:pic>
                    <p:nvPicPr>
                      <p:cNvPr id="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3135313"/>
                        <a:ext cx="7847013" cy="2349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5" name="Text Box 19"/>
          <p:cNvSpPr txBox="1">
            <a:spLocks noChangeArrowheads="1"/>
          </p:cNvSpPr>
          <p:nvPr/>
        </p:nvSpPr>
        <p:spPr bwMode="auto">
          <a:xfrm>
            <a:off x="1447800" y="5775325"/>
            <a:ext cx="5867400" cy="396875"/>
          </a:xfrm>
          <a:prstGeom prst="rect">
            <a:avLst/>
          </a:prstGeom>
          <a:noFill/>
          <a:ln w="12700">
            <a:noFill/>
            <a:miter lim="800000"/>
            <a:headEnd/>
            <a:tailEnd/>
          </a:ln>
          <a:effectLst/>
        </p:spPr>
        <p:txBody>
          <a:bodyPr>
            <a:spAutoFit/>
          </a:bodyPr>
          <a:lstStyle/>
          <a:p>
            <a:pPr>
              <a:spcBef>
                <a:spcPct val="50000"/>
              </a:spcBef>
            </a:pPr>
            <a:r>
              <a:rPr lang="en-US" sz="2000">
                <a:solidFill>
                  <a:srgbClr val="FF0000"/>
                </a:solidFill>
              </a:rPr>
              <a:t>Knowledge Discovery in Databases (KDD)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a:xfrm>
            <a:off x="457200" y="274638"/>
            <a:ext cx="8229600" cy="1143000"/>
          </a:xfrm>
        </p:spPr>
        <p:txBody>
          <a:bodyPr>
            <a:normAutofit fontScale="90000"/>
          </a:bodyPr>
          <a:lstStyle/>
          <a:p>
            <a:r>
              <a:rPr lang="en-US"/>
              <a:t>Knowledge Discovery in the old days</a:t>
            </a:r>
          </a:p>
        </p:txBody>
      </p:sp>
      <p:sp>
        <p:nvSpPr>
          <p:cNvPr id="5" name="Rectangle 3"/>
          <p:cNvSpPr>
            <a:spLocks noChangeArrowheads="1"/>
          </p:cNvSpPr>
          <p:nvPr/>
        </p:nvSpPr>
        <p:spPr bwMode="auto">
          <a:xfrm>
            <a:off x="228600" y="5911850"/>
            <a:ext cx="5954713" cy="336550"/>
          </a:xfrm>
          <a:prstGeom prst="rect">
            <a:avLst/>
          </a:prstGeom>
          <a:noFill/>
          <a:ln w="9525">
            <a:noFill/>
            <a:miter lim="800000"/>
            <a:headEnd/>
            <a:tailEnd/>
          </a:ln>
          <a:effectLst/>
        </p:spPr>
        <p:txBody>
          <a:bodyPr wrap="none">
            <a:spAutoFit/>
          </a:bodyPr>
          <a:lstStyle/>
          <a:p>
            <a:pPr eaLnBrk="1" hangingPunct="1"/>
            <a:r>
              <a:rPr lang="en-US" sz="1600" b="0">
                <a:solidFill>
                  <a:schemeClr val="folHlink"/>
                </a:solidFill>
                <a:latin typeface="Times New Roman" pitchFamily="18" charset="0"/>
              </a:rPr>
              <a:t>From: http://csep10.phys.utk.edu/astr161/lect/history/newtongrav.html</a:t>
            </a:r>
          </a:p>
        </p:txBody>
      </p:sp>
      <p:pic>
        <p:nvPicPr>
          <p:cNvPr id="6" name="Picture 4" descr="newtonapple"/>
          <p:cNvPicPr>
            <a:picLocks noChangeAspect="1" noChangeArrowheads="1" noCrop="1"/>
          </p:cNvPicPr>
          <p:nvPr/>
        </p:nvPicPr>
        <p:blipFill>
          <a:blip r:embed="rId2"/>
          <a:srcRect/>
          <a:stretch>
            <a:fillRect/>
          </a:stretch>
        </p:blipFill>
        <p:spPr bwMode="auto">
          <a:xfrm>
            <a:off x="685800" y="1111250"/>
            <a:ext cx="3719513" cy="4648200"/>
          </a:xfrm>
          <a:prstGeom prst="rect">
            <a:avLst/>
          </a:prstGeom>
          <a:noFill/>
        </p:spPr>
      </p:pic>
      <p:sp>
        <p:nvSpPr>
          <p:cNvPr id="7" name="Text Box 5"/>
          <p:cNvSpPr txBox="1">
            <a:spLocks noChangeArrowheads="1"/>
          </p:cNvSpPr>
          <p:nvPr/>
        </p:nvSpPr>
        <p:spPr bwMode="auto">
          <a:xfrm>
            <a:off x="5105400" y="2190750"/>
            <a:ext cx="3276600" cy="1917700"/>
          </a:xfrm>
          <a:prstGeom prst="rect">
            <a:avLst/>
          </a:prstGeom>
          <a:noFill/>
          <a:ln w="9525">
            <a:noFill/>
            <a:miter lim="800000"/>
            <a:headEnd/>
            <a:tailEnd/>
          </a:ln>
          <a:effectLst/>
        </p:spPr>
        <p:txBody>
          <a:bodyPr>
            <a:spAutoFit/>
          </a:bodyPr>
          <a:lstStyle/>
          <a:p>
            <a:pPr marL="457200" indent="-457200" eaLnBrk="1" hangingPunct="1">
              <a:spcBef>
                <a:spcPct val="50000"/>
              </a:spcBef>
              <a:buFontTx/>
              <a:buAutoNum type="arabicPeriod"/>
            </a:pPr>
            <a:r>
              <a:rPr lang="en-US" sz="2400" b="0" dirty="0">
                <a:latin typeface="Times New Roman" pitchFamily="18" charset="0"/>
              </a:rPr>
              <a:t>Observe phenomena</a:t>
            </a:r>
          </a:p>
          <a:p>
            <a:pPr marL="457200" indent="-457200" eaLnBrk="1" hangingPunct="1">
              <a:spcBef>
                <a:spcPct val="50000"/>
              </a:spcBef>
              <a:buFontTx/>
              <a:buAutoNum type="arabicPeriod"/>
            </a:pPr>
            <a:r>
              <a:rPr lang="en-US" sz="2400" b="0" dirty="0">
                <a:latin typeface="Times New Roman" pitchFamily="18" charset="0"/>
              </a:rPr>
              <a:t>Formulate theory</a:t>
            </a:r>
          </a:p>
          <a:p>
            <a:pPr marL="457200" indent="-457200" eaLnBrk="1" hangingPunct="1">
              <a:spcBef>
                <a:spcPct val="50000"/>
              </a:spcBef>
              <a:buFontTx/>
              <a:buAutoNum type="arabicPeriod"/>
            </a:pPr>
            <a:r>
              <a:rPr lang="en-US" sz="2400" b="0" dirty="0">
                <a:latin typeface="Times New Roman" pitchFamily="18" charset="0"/>
              </a:rPr>
              <a:t>Validate theory via experimentation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WordArt 2"/>
          <p:cNvSpPr>
            <a:spLocks noChangeArrowheads="1" noChangeShapeType="1" noTextEdit="1"/>
          </p:cNvSpPr>
          <p:nvPr/>
        </p:nvSpPr>
        <p:spPr bwMode="auto">
          <a:xfrm>
            <a:off x="2209800" y="914400"/>
            <a:ext cx="4057650" cy="4129088"/>
          </a:xfrm>
          <a:prstGeom prst="rect">
            <a:avLst/>
          </a:prstGeom>
        </p:spPr>
        <p:txBody>
          <a:bodyPr wrap="none" fromWordArt="1">
            <a:prstTxWarp prst="textCascadeUp">
              <a:avLst>
                <a:gd name="adj" fmla="val 44444"/>
              </a:avLst>
            </a:prstTxWarp>
            <a:scene3d>
              <a:camera prst="legacyPerspectiveFront">
                <a:rot lat="20519999" lon="1080000" rev="0"/>
              </a:camera>
              <a:lightRig rig="legacyHarsh2" dir="b"/>
            </a:scene3d>
            <a:sp3d extrusionH="430200" prstMaterial="legacyMatte">
              <a:extrusionClr>
                <a:srgbClr val="FF6600"/>
              </a:extrusionClr>
            </a:sp3d>
          </a:bodyPr>
          <a:lstStyle/>
          <a:p>
            <a:pPr algn="ctr"/>
            <a:r>
              <a:rPr lang="id-ID" sz="3600" kern="10">
                <a:ln w="9525">
                  <a:round/>
                  <a:headEnd/>
                  <a:tailEnd/>
                </a:ln>
                <a:gradFill rotWithShape="0">
                  <a:gsLst>
                    <a:gs pos="0">
                      <a:srgbClr val="FFE701"/>
                    </a:gs>
                    <a:gs pos="100000">
                      <a:srgbClr val="FE3E02"/>
                    </a:gs>
                  </a:gsLst>
                  <a:lin ang="5400000" scaled="1"/>
                </a:gradFill>
                <a:latin typeface="Impact"/>
              </a:rPr>
              <a:t>Data,</a:t>
            </a:r>
          </a:p>
          <a:p>
            <a:pPr algn="ctr"/>
            <a:r>
              <a:rPr lang="id-ID" sz="3600" kern="10">
                <a:ln w="9525">
                  <a:round/>
                  <a:headEnd/>
                  <a:tailEnd/>
                </a:ln>
                <a:gradFill rotWithShape="0">
                  <a:gsLst>
                    <a:gs pos="0">
                      <a:srgbClr val="FFE701"/>
                    </a:gs>
                    <a:gs pos="100000">
                      <a:srgbClr val="FE3E02"/>
                    </a:gs>
                  </a:gsLst>
                  <a:lin ang="5400000" scaled="1"/>
                </a:gradFill>
                <a:latin typeface="Impact"/>
              </a:rPr>
              <a:t>Data</a:t>
            </a:r>
          </a:p>
          <a:p>
            <a:pPr algn="ctr"/>
            <a:r>
              <a:rPr lang="id-ID" sz="3600" kern="10">
                <a:ln w="9525">
                  <a:round/>
                  <a:headEnd/>
                  <a:tailEnd/>
                </a:ln>
                <a:gradFill rotWithShape="0">
                  <a:gsLst>
                    <a:gs pos="0">
                      <a:srgbClr val="FFE701"/>
                    </a:gs>
                    <a:gs pos="100000">
                      <a:srgbClr val="FE3E02"/>
                    </a:gs>
                  </a:gsLst>
                  <a:lin ang="5400000" scaled="1"/>
                </a:gradFill>
                <a:latin typeface="Impact"/>
              </a:rPr>
              <a:t>Everywhere</a:t>
            </a:r>
          </a:p>
        </p:txBody>
      </p:sp>
      <p:grpSp>
        <p:nvGrpSpPr>
          <p:cNvPr id="5" name="Group 3"/>
          <p:cNvGrpSpPr>
            <a:grpSpLocks/>
          </p:cNvGrpSpPr>
          <p:nvPr/>
        </p:nvGrpSpPr>
        <p:grpSpPr bwMode="auto">
          <a:xfrm>
            <a:off x="304800" y="1081088"/>
            <a:ext cx="2057400" cy="1417637"/>
            <a:chOff x="3360" y="768"/>
            <a:chExt cx="1296" cy="893"/>
          </a:xfrm>
        </p:grpSpPr>
        <p:pic>
          <p:nvPicPr>
            <p:cNvPr id="6" name="Picture 4" descr="story-3dimensional-2"/>
            <p:cNvPicPr>
              <a:picLocks noChangeAspect="1" noChangeArrowheads="1"/>
            </p:cNvPicPr>
            <p:nvPr/>
          </p:nvPicPr>
          <p:blipFill>
            <a:blip r:embed="rId3"/>
            <a:srcRect/>
            <a:stretch>
              <a:fillRect/>
            </a:stretch>
          </p:blipFill>
          <p:spPr bwMode="auto">
            <a:xfrm>
              <a:off x="3418" y="768"/>
              <a:ext cx="1238" cy="893"/>
            </a:xfrm>
            <a:prstGeom prst="rect">
              <a:avLst/>
            </a:prstGeom>
            <a:noFill/>
          </p:spPr>
        </p:pic>
        <p:graphicFrame>
          <p:nvGraphicFramePr>
            <p:cNvPr id="7" name="Object 5"/>
            <p:cNvGraphicFramePr>
              <a:graphicFrameLocks noChangeAspect="1"/>
            </p:cNvGraphicFramePr>
            <p:nvPr/>
          </p:nvGraphicFramePr>
          <p:xfrm>
            <a:off x="3370" y="1155"/>
            <a:ext cx="432" cy="429"/>
          </p:xfrm>
          <a:graphic>
            <a:graphicData uri="http://schemas.openxmlformats.org/presentationml/2006/ole">
              <mc:AlternateContent xmlns:mc="http://schemas.openxmlformats.org/markup-compatibility/2006">
                <mc:Choice xmlns:v="urn:schemas-microsoft-com:vml" Requires="v">
                  <p:oleObj spid="_x0000_s2055" name="VISIO" r:id="rId4" imgW="618480" imgH="614520" progId="Visio.Drawing.11">
                    <p:embed/>
                  </p:oleObj>
                </mc:Choice>
                <mc:Fallback>
                  <p:oleObj name="VISIO" r:id="rId4" imgW="618480" imgH="614520" progId="Visio.Drawing.11">
                    <p:embed/>
                    <p:pic>
                      <p:nvPicPr>
                        <p:cNvPr id="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70" y="1155"/>
                          <a:ext cx="432" cy="4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 name="Object 6"/>
            <p:cNvGraphicFramePr>
              <a:graphicFrameLocks noChangeAspect="1"/>
            </p:cNvGraphicFramePr>
            <p:nvPr/>
          </p:nvGraphicFramePr>
          <p:xfrm>
            <a:off x="3360" y="912"/>
            <a:ext cx="432" cy="355"/>
          </p:xfrm>
          <a:graphic>
            <a:graphicData uri="http://schemas.openxmlformats.org/presentationml/2006/ole">
              <mc:AlternateContent xmlns:mc="http://schemas.openxmlformats.org/markup-compatibility/2006">
                <mc:Choice xmlns:v="urn:schemas-microsoft-com:vml" Requires="v">
                  <p:oleObj spid="_x0000_s2056" name="VISIO" r:id="rId6" imgW="807120" imgH="662760" progId="Visio.Drawing.11">
                    <p:embed/>
                  </p:oleObj>
                </mc:Choice>
                <mc:Fallback>
                  <p:oleObj name="VISIO" r:id="rId6" imgW="807120" imgH="662760" progId="Visio.Drawing.11">
                    <p:embed/>
                    <p:pic>
                      <p:nvPicPr>
                        <p:cNvPr id="0"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360" y="912"/>
                          <a:ext cx="432" cy="3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9" name="Object 7"/>
          <p:cNvGraphicFramePr>
            <a:graphicFrameLocks noChangeAspect="1"/>
          </p:cNvGraphicFramePr>
          <p:nvPr/>
        </p:nvGraphicFramePr>
        <p:xfrm>
          <a:off x="457200" y="4281488"/>
          <a:ext cx="1485900" cy="1558925"/>
        </p:xfrm>
        <a:graphic>
          <a:graphicData uri="http://schemas.openxmlformats.org/presentationml/2006/ole">
            <mc:AlternateContent xmlns:mc="http://schemas.openxmlformats.org/markup-compatibility/2006">
              <mc:Choice xmlns:v="urn:schemas-microsoft-com:vml" Requires="v">
                <p:oleObj spid="_x0000_s2057" name="VISIO" r:id="rId8" imgW="1663200" imgH="1746360" progId="Visio.Drawing.11">
                  <p:embed/>
                </p:oleObj>
              </mc:Choice>
              <mc:Fallback>
                <p:oleObj name="VISIO" r:id="rId8" imgW="1663200" imgH="1746360" progId="Visio.Drawing.11">
                  <p:embed/>
                  <p:pic>
                    <p:nvPicPr>
                      <p:cNvPr id="0" name="Picture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57200" y="4281488"/>
                        <a:ext cx="1485900" cy="1558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 name="Object 8"/>
          <p:cNvGraphicFramePr>
            <a:graphicFrameLocks noChangeAspect="1"/>
          </p:cNvGraphicFramePr>
          <p:nvPr/>
        </p:nvGraphicFramePr>
        <p:xfrm>
          <a:off x="6553200" y="1143000"/>
          <a:ext cx="2332038" cy="1812925"/>
        </p:xfrm>
        <a:graphic>
          <a:graphicData uri="http://schemas.openxmlformats.org/presentationml/2006/ole">
            <mc:AlternateContent xmlns:mc="http://schemas.openxmlformats.org/markup-compatibility/2006">
              <mc:Choice xmlns:v="urn:schemas-microsoft-com:vml" Requires="v">
                <p:oleObj spid="_x0000_s2058" name="VISIO" r:id="rId10" imgW="2561400" imgH="1990080" progId="Visio.Drawing.11">
                  <p:embed/>
                </p:oleObj>
              </mc:Choice>
              <mc:Fallback>
                <p:oleObj name="VISIO" r:id="rId10" imgW="2561400" imgH="1990080" progId="Visio.Drawing.11">
                  <p:embed/>
                  <p:pic>
                    <p:nvPicPr>
                      <p:cNvPr id="0" name="Picture 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553200" y="1143000"/>
                        <a:ext cx="2332038" cy="1812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 name="Object 9"/>
          <p:cNvGraphicFramePr>
            <a:graphicFrameLocks noChangeAspect="1"/>
          </p:cNvGraphicFramePr>
          <p:nvPr/>
        </p:nvGraphicFramePr>
        <p:xfrm>
          <a:off x="3048000" y="5105400"/>
          <a:ext cx="2209800" cy="1181100"/>
        </p:xfrm>
        <a:graphic>
          <a:graphicData uri="http://schemas.openxmlformats.org/presentationml/2006/ole">
            <mc:AlternateContent xmlns:mc="http://schemas.openxmlformats.org/markup-compatibility/2006">
              <mc:Choice xmlns:v="urn:schemas-microsoft-com:vml" Requires="v">
                <p:oleObj spid="_x0000_s2059" name="VISIO" r:id="rId12" imgW="2405160" imgH="1490760" progId="Visio.Drawing.11">
                  <p:embed/>
                </p:oleObj>
              </mc:Choice>
              <mc:Fallback>
                <p:oleObj name="VISIO" r:id="rId12" imgW="2405160" imgH="1490760" progId="Visio.Drawing.11">
                  <p:embed/>
                  <p:pic>
                    <p:nvPicPr>
                      <p:cNvPr id="0" name="Picture 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048000" y="5105400"/>
                        <a:ext cx="2209800" cy="1181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12" name="Picture 10" descr="crop"/>
          <p:cNvPicPr>
            <a:picLocks noChangeAspect="1" noChangeArrowheads="1"/>
          </p:cNvPicPr>
          <p:nvPr/>
        </p:nvPicPr>
        <p:blipFill>
          <a:blip r:embed="rId14"/>
          <a:srcRect/>
          <a:stretch>
            <a:fillRect/>
          </a:stretch>
        </p:blipFill>
        <p:spPr bwMode="auto">
          <a:xfrm>
            <a:off x="304800" y="2833688"/>
            <a:ext cx="2166938" cy="1101725"/>
          </a:xfrm>
          <a:prstGeom prst="rect">
            <a:avLst/>
          </a:prstGeom>
          <a:noFill/>
          <a:ln w="9525">
            <a:noFill/>
            <a:miter lim="800000"/>
            <a:headEnd/>
            <a:tailEnd/>
          </a:ln>
        </p:spPr>
      </p:pic>
      <p:sp>
        <p:nvSpPr>
          <p:cNvPr id="13" name="Rectangle 11"/>
          <p:cNvSpPr>
            <a:spLocks noGrp="1" noChangeArrowheads="1"/>
          </p:cNvSpPr>
          <p:nvPr>
            <p:ph type="title"/>
          </p:nvPr>
        </p:nvSpPr>
        <p:spPr>
          <a:xfrm>
            <a:off x="457200" y="274638"/>
            <a:ext cx="8229600" cy="1143000"/>
          </a:xfrm>
        </p:spPr>
        <p:txBody>
          <a:bodyPr/>
          <a:lstStyle/>
          <a:p>
            <a:r>
              <a:rPr lang="en-US"/>
              <a:t>Nowadays…</a:t>
            </a:r>
          </a:p>
        </p:txBody>
      </p:sp>
      <p:sp>
        <p:nvSpPr>
          <p:cNvPr id="14" name="Text Box 12"/>
          <p:cNvSpPr txBox="1">
            <a:spLocks noChangeArrowheads="1"/>
          </p:cNvSpPr>
          <p:nvPr/>
        </p:nvSpPr>
        <p:spPr bwMode="auto">
          <a:xfrm>
            <a:off x="5638800" y="3352800"/>
            <a:ext cx="3276600" cy="3013075"/>
          </a:xfrm>
          <a:prstGeom prst="rect">
            <a:avLst/>
          </a:prstGeom>
          <a:noFill/>
          <a:ln w="9525">
            <a:noFill/>
            <a:miter lim="800000"/>
            <a:headEnd/>
            <a:tailEnd/>
          </a:ln>
          <a:effectLst/>
        </p:spPr>
        <p:txBody>
          <a:bodyPr>
            <a:spAutoFit/>
          </a:bodyPr>
          <a:lstStyle/>
          <a:p>
            <a:pPr marL="457200" indent="-457200" eaLnBrk="1" hangingPunct="1">
              <a:spcBef>
                <a:spcPct val="50000"/>
              </a:spcBef>
              <a:buFontTx/>
              <a:buAutoNum type="arabicPeriod"/>
            </a:pPr>
            <a:r>
              <a:rPr lang="en-US" sz="2400" b="0">
                <a:latin typeface="Times New Roman" pitchFamily="18" charset="0"/>
              </a:rPr>
              <a:t>Lots of data</a:t>
            </a:r>
          </a:p>
          <a:p>
            <a:pPr marL="457200" indent="-457200" eaLnBrk="1" hangingPunct="1">
              <a:spcBef>
                <a:spcPct val="50000"/>
              </a:spcBef>
              <a:buFontTx/>
              <a:buAutoNum type="arabicPeriod"/>
            </a:pPr>
            <a:r>
              <a:rPr lang="en-US" sz="2400" b="0">
                <a:latin typeface="Times New Roman" pitchFamily="18" charset="0"/>
              </a:rPr>
              <a:t>Lack of theory</a:t>
            </a:r>
          </a:p>
          <a:p>
            <a:pPr marL="457200" indent="-457200" eaLnBrk="1" hangingPunct="1">
              <a:spcBef>
                <a:spcPct val="50000"/>
              </a:spcBef>
              <a:buFontTx/>
              <a:buAutoNum type="arabicPeriod"/>
            </a:pPr>
            <a:r>
              <a:rPr lang="en-US" sz="2400" b="0">
                <a:latin typeface="Times New Roman" pitchFamily="18" charset="0"/>
              </a:rPr>
              <a:t>Data mining can help to generate new hypothesis or help analysts to make sense out of the data</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par>
                          <p:cTn id="8" fill="hold">
                            <p:stCondLst>
                              <p:cond delay="500"/>
                            </p:stCondLst>
                            <p:childTnLst>
                              <p:par>
                                <p:cTn id="9" presetID="2" presetClass="entr" presetSubtype="8" fill="hold" nodeType="after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0-#ppt_w/2"/>
                                          </p:val>
                                        </p:tav>
                                        <p:tav tm="100000">
                                          <p:val>
                                            <p:strVal val="#ppt_x"/>
                                          </p:val>
                                        </p:tav>
                                      </p:tavLst>
                                    </p:anim>
                                    <p:anim calcmode="lin" valueType="num">
                                      <p:cBhvr additive="base">
                                        <p:cTn id="12" dur="500" fill="hold"/>
                                        <p:tgtEl>
                                          <p:spTgt spid="12"/>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ID="22" presetClass="entr" presetSubtype="2" fill="hold" nodeType="after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wipe(right)">
                                      <p:cBhvr>
                                        <p:cTn id="16" dur="500"/>
                                        <p:tgtEl>
                                          <p:spTgt spid="9"/>
                                        </p:tgtEl>
                                      </p:cBhvr>
                                    </p:animEffect>
                                  </p:childTnLst>
                                </p:cTn>
                              </p:par>
                            </p:childTnLst>
                          </p:cTn>
                        </p:par>
                        <p:par>
                          <p:cTn id="17" fill="hold">
                            <p:stCondLst>
                              <p:cond delay="1500"/>
                            </p:stCondLst>
                            <p:childTnLst>
                              <p:par>
                                <p:cTn id="18" presetID="22" presetClass="entr" presetSubtype="1" fill="hold" nodeType="after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wipe(up)">
                                      <p:cBhvr>
                                        <p:cTn id="20" dur="500"/>
                                        <p:tgtEl>
                                          <p:spTgt spid="10"/>
                                        </p:tgtEl>
                                      </p:cBhvr>
                                    </p:animEffect>
                                  </p:childTnLst>
                                </p:cTn>
                              </p:par>
                            </p:childTnLst>
                          </p:cTn>
                        </p:par>
                        <p:par>
                          <p:cTn id="21" fill="hold">
                            <p:stCondLst>
                              <p:cond delay="2000"/>
                            </p:stCondLst>
                            <p:childTnLst>
                              <p:par>
                                <p:cTn id="22" presetID="3" presetClass="entr" presetSubtype="10" fill="hold" nodeType="after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blinds(horizontal)">
                                      <p:cBhvr>
                                        <p:cTn id="24"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1266" name="Rectangle 2"/>
          <p:cNvSpPr>
            <a:spLocks noGrp="1" noChangeArrowheads="1"/>
          </p:cNvSpPr>
          <p:nvPr>
            <p:ph type="title"/>
          </p:nvPr>
        </p:nvSpPr>
        <p:spPr>
          <a:xfrm>
            <a:off x="228600" y="0"/>
            <a:ext cx="8585200" cy="685800"/>
          </a:xfrm>
        </p:spPr>
        <p:txBody>
          <a:bodyPr>
            <a:normAutofit fontScale="90000"/>
          </a:bodyPr>
          <a:lstStyle/>
          <a:p>
            <a:r>
              <a:rPr lang="en-US"/>
              <a:t>What is (not) Data Mining?</a:t>
            </a:r>
          </a:p>
        </p:txBody>
      </p:sp>
      <p:sp>
        <p:nvSpPr>
          <p:cNvPr id="651270" name="Text Box 6"/>
          <p:cNvSpPr txBox="1">
            <a:spLocks noChangeArrowheads="1"/>
          </p:cNvSpPr>
          <p:nvPr/>
        </p:nvSpPr>
        <p:spPr bwMode="auto">
          <a:xfrm>
            <a:off x="3962400" y="1233488"/>
            <a:ext cx="5029200" cy="4984750"/>
          </a:xfrm>
          <a:prstGeom prst="rect">
            <a:avLst/>
          </a:prstGeom>
          <a:noFill/>
          <a:ln w="12700">
            <a:solidFill>
              <a:schemeClr val="tx1"/>
            </a:solidFill>
            <a:miter lim="800000"/>
            <a:headEnd/>
            <a:tailEnd/>
          </a:ln>
          <a:effectLst/>
        </p:spPr>
        <p:txBody>
          <a:bodyPr lIns="0" rIns="0">
            <a:spAutoFit/>
          </a:bodyPr>
          <a:lstStyle/>
          <a:p>
            <a:pPr>
              <a:lnSpc>
                <a:spcPct val="95000"/>
              </a:lnSpc>
              <a:spcBef>
                <a:spcPct val="20000"/>
              </a:spcBef>
              <a:spcAft>
                <a:spcPts val="400"/>
              </a:spcAft>
              <a:buClr>
                <a:srgbClr val="0C7B9C"/>
              </a:buClr>
              <a:buSzPct val="75000"/>
              <a:buFont typeface="Monotype Sorts" pitchFamily="2" charset="2"/>
              <a:buChar char="l"/>
            </a:pPr>
            <a:r>
              <a:rPr lang="en-US" sz="2800"/>
              <a:t> What is Data Mining?</a:t>
            </a:r>
          </a:p>
          <a:p>
            <a:pPr lvl="1">
              <a:lnSpc>
                <a:spcPct val="95000"/>
              </a:lnSpc>
              <a:spcBef>
                <a:spcPct val="20000"/>
              </a:spcBef>
              <a:spcAft>
                <a:spcPts val="400"/>
              </a:spcAft>
              <a:buClr>
                <a:srgbClr val="0C7B9C"/>
              </a:buClr>
              <a:buSzPct val="100000"/>
              <a:buFont typeface="Arial" charset="0"/>
              <a:buNone/>
            </a:pPr>
            <a:r>
              <a:rPr lang="en-US" sz="2800" b="0"/>
              <a:t> </a:t>
            </a:r>
          </a:p>
          <a:p>
            <a:pPr lvl="1">
              <a:lnSpc>
                <a:spcPct val="95000"/>
              </a:lnSpc>
              <a:spcBef>
                <a:spcPct val="20000"/>
              </a:spcBef>
              <a:spcAft>
                <a:spcPts val="400"/>
              </a:spcAft>
              <a:buClr>
                <a:srgbClr val="0C7B9C"/>
              </a:buClr>
              <a:buSzPct val="100000"/>
              <a:buFont typeface="Arial" charset="0"/>
              <a:buChar char="–"/>
            </a:pPr>
            <a:r>
              <a:rPr lang="en-US" sz="2800" b="0"/>
              <a:t> Certain names are more prevalent in certain US locations (O’Brien, O’Rurke, O’Reilly… in Boston area)</a:t>
            </a:r>
          </a:p>
          <a:p>
            <a:pPr lvl="1">
              <a:lnSpc>
                <a:spcPct val="95000"/>
              </a:lnSpc>
              <a:spcBef>
                <a:spcPct val="20000"/>
              </a:spcBef>
              <a:spcAft>
                <a:spcPts val="400"/>
              </a:spcAft>
              <a:buClr>
                <a:srgbClr val="0C7B9C"/>
              </a:buClr>
              <a:buSzPct val="100000"/>
              <a:buFont typeface="Arial" charset="0"/>
              <a:buChar char="–"/>
            </a:pPr>
            <a:r>
              <a:rPr lang="en-US" sz="2800" b="0"/>
              <a:t> Group together similar documents returned by search engine according to their context (e.g. Amazon rainforest, Amazon.com,)</a:t>
            </a:r>
          </a:p>
        </p:txBody>
      </p:sp>
      <p:sp>
        <p:nvSpPr>
          <p:cNvPr id="651271" name="Text Box 7"/>
          <p:cNvSpPr txBox="1">
            <a:spLocks noChangeArrowheads="1"/>
          </p:cNvSpPr>
          <p:nvPr/>
        </p:nvSpPr>
        <p:spPr bwMode="auto">
          <a:xfrm>
            <a:off x="304800" y="1231900"/>
            <a:ext cx="3429000" cy="5032375"/>
          </a:xfrm>
          <a:prstGeom prst="rect">
            <a:avLst/>
          </a:prstGeom>
          <a:noFill/>
          <a:ln w="12700">
            <a:solidFill>
              <a:schemeClr val="tx1"/>
            </a:solidFill>
            <a:miter lim="800000"/>
            <a:headEnd/>
            <a:tailEnd/>
          </a:ln>
          <a:effectLst/>
        </p:spPr>
        <p:txBody>
          <a:bodyPr>
            <a:spAutoFit/>
          </a:bodyPr>
          <a:lstStyle/>
          <a:p>
            <a:pPr>
              <a:lnSpc>
                <a:spcPct val="95000"/>
              </a:lnSpc>
              <a:spcBef>
                <a:spcPct val="20000"/>
              </a:spcBef>
              <a:spcAft>
                <a:spcPts val="400"/>
              </a:spcAft>
              <a:buClr>
                <a:srgbClr val="0C7B9C"/>
              </a:buClr>
              <a:buSzPct val="75000"/>
              <a:buFont typeface="Monotype Sorts" pitchFamily="2" charset="2"/>
              <a:buChar char="l"/>
            </a:pPr>
            <a:r>
              <a:rPr lang="en-US" sz="2800"/>
              <a:t> What is not Data Mining?</a:t>
            </a:r>
          </a:p>
          <a:p>
            <a:pPr lvl="1">
              <a:lnSpc>
                <a:spcPct val="95000"/>
              </a:lnSpc>
              <a:spcBef>
                <a:spcPct val="60000"/>
              </a:spcBef>
              <a:spcAft>
                <a:spcPts val="400"/>
              </a:spcAft>
              <a:buClr>
                <a:srgbClr val="0C7B9C"/>
              </a:buClr>
              <a:buSzPct val="100000"/>
              <a:buFont typeface="Arial" charset="0"/>
              <a:buChar char="–"/>
            </a:pPr>
            <a:r>
              <a:rPr lang="en-US" sz="2800" b="0"/>
              <a:t> Look up phone number in phone directory</a:t>
            </a:r>
          </a:p>
          <a:p>
            <a:pPr lvl="1">
              <a:lnSpc>
                <a:spcPct val="95000"/>
              </a:lnSpc>
              <a:spcBef>
                <a:spcPct val="20000"/>
              </a:spcBef>
              <a:spcAft>
                <a:spcPts val="400"/>
              </a:spcAft>
              <a:buClr>
                <a:srgbClr val="0C7B9C"/>
              </a:buClr>
              <a:buSzPct val="100000"/>
              <a:buFont typeface="Arial" charset="0"/>
              <a:buNone/>
            </a:pPr>
            <a:r>
              <a:rPr lang="en-US" sz="2800" b="0"/>
              <a:t> </a:t>
            </a:r>
          </a:p>
          <a:p>
            <a:pPr lvl="1">
              <a:lnSpc>
                <a:spcPct val="95000"/>
              </a:lnSpc>
              <a:spcAft>
                <a:spcPts val="400"/>
              </a:spcAft>
              <a:buClr>
                <a:srgbClr val="0C7B9C"/>
              </a:buClr>
              <a:buSzPct val="100000"/>
              <a:buFont typeface="Arial" charset="0"/>
              <a:buChar char="–"/>
            </a:pPr>
            <a:r>
              <a:rPr lang="en-US" sz="2800" b="0"/>
              <a:t> Query a Web search engine for information about “Amazon”</a:t>
            </a:r>
          </a:p>
          <a:p>
            <a:pPr>
              <a:spcBef>
                <a:spcPct val="50000"/>
              </a:spcBef>
            </a:pP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5127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512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1270" grpId="0" animBg="1"/>
      <p:bldP spid="651271"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5"/>
          <p:cNvSpPr>
            <a:spLocks noGrp="1" noChangeArrowheads="1"/>
          </p:cNvSpPr>
          <p:nvPr>
            <p:ph type="title"/>
          </p:nvPr>
        </p:nvSpPr>
        <p:spPr>
          <a:xfrm>
            <a:off x="457200" y="274638"/>
            <a:ext cx="8229600" cy="1143000"/>
          </a:xfrm>
        </p:spPr>
        <p:txBody>
          <a:bodyPr/>
          <a:lstStyle/>
          <a:p>
            <a:r>
              <a:rPr lang="en-US"/>
              <a:t>Data Mining Tasks</a:t>
            </a:r>
          </a:p>
        </p:txBody>
      </p:sp>
      <p:sp>
        <p:nvSpPr>
          <p:cNvPr id="5" name="Rectangle 6"/>
          <p:cNvSpPr>
            <a:spLocks noGrp="1" noChangeArrowheads="1"/>
          </p:cNvSpPr>
          <p:nvPr>
            <p:ph idx="1"/>
          </p:nvPr>
        </p:nvSpPr>
        <p:spPr>
          <a:xfrm>
            <a:off x="457200" y="1600200"/>
            <a:ext cx="8229600" cy="4525963"/>
          </a:xfrm>
        </p:spPr>
        <p:txBody>
          <a:bodyPr/>
          <a:lstStyle/>
          <a:p>
            <a:r>
              <a:rPr lang="en-US"/>
              <a:t>Predictive Methods</a:t>
            </a:r>
          </a:p>
          <a:p>
            <a:pPr lvl="1"/>
            <a:r>
              <a:rPr lang="en-US"/>
              <a:t>Use some variables to predict unknown or values of other variables.</a:t>
            </a:r>
          </a:p>
          <a:p>
            <a:pPr lvl="2"/>
            <a:endParaRPr lang="en-US"/>
          </a:p>
          <a:p>
            <a:r>
              <a:rPr lang="en-US"/>
              <a:t>Descriptive Methods</a:t>
            </a:r>
          </a:p>
          <a:p>
            <a:pPr lvl="1"/>
            <a:r>
              <a:rPr lang="en-US"/>
              <a:t>Find human-interpretable patterns that describe the data.</a:t>
            </a:r>
          </a:p>
          <a:p>
            <a:pPr lvl="2"/>
            <a:endParaRPr lang="en-US"/>
          </a:p>
        </p:txBody>
      </p:sp>
      <p:sp>
        <p:nvSpPr>
          <p:cNvPr id="6" name="Text Box 4"/>
          <p:cNvSpPr txBox="1">
            <a:spLocks noChangeArrowheads="1"/>
          </p:cNvSpPr>
          <p:nvPr/>
        </p:nvSpPr>
        <p:spPr bwMode="auto">
          <a:xfrm>
            <a:off x="3810000" y="5973763"/>
            <a:ext cx="5135563" cy="274637"/>
          </a:xfrm>
          <a:prstGeom prst="rect">
            <a:avLst/>
          </a:prstGeom>
          <a:noFill/>
          <a:ln w="9525">
            <a:noFill/>
            <a:miter lim="800000"/>
            <a:headEnd/>
            <a:tailEnd/>
          </a:ln>
          <a:effectLst/>
        </p:spPr>
        <p:txBody>
          <a:bodyPr wrap="none">
            <a:spAutoFit/>
          </a:bodyPr>
          <a:lstStyle/>
          <a:p>
            <a:r>
              <a:rPr lang="en-US" sz="1200" b="0">
                <a:latin typeface="Times New Roman" pitchFamily="18" charset="0"/>
              </a:rPr>
              <a:t>From [Fayyad, et.al.] Advances in Knowledge Discovery and Data Mining, 1996</a:t>
            </a:r>
            <a:endParaRPr lang="en-US" sz="1200">
              <a:latin typeface="Times New Roman"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a:xfrm>
            <a:off x="457200" y="274638"/>
            <a:ext cx="8229600" cy="1143000"/>
          </a:xfrm>
        </p:spPr>
        <p:txBody>
          <a:bodyPr/>
          <a:lstStyle/>
          <a:p>
            <a:r>
              <a:rPr lang="en-US"/>
              <a:t>Data Mining Tasks...</a:t>
            </a:r>
          </a:p>
        </p:txBody>
      </p:sp>
      <p:sp>
        <p:nvSpPr>
          <p:cNvPr id="5" name="Rectangle 3"/>
          <p:cNvSpPr>
            <a:spLocks noGrp="1" noChangeArrowheads="1"/>
          </p:cNvSpPr>
          <p:nvPr>
            <p:ph idx="1"/>
          </p:nvPr>
        </p:nvSpPr>
        <p:spPr>
          <a:xfrm>
            <a:off x="457200" y="1600200"/>
            <a:ext cx="8229600" cy="4525963"/>
          </a:xfrm>
        </p:spPr>
        <p:txBody>
          <a:bodyPr/>
          <a:lstStyle/>
          <a:p>
            <a:r>
              <a:rPr lang="en-US"/>
              <a:t>Classification </a:t>
            </a:r>
            <a:r>
              <a:rPr lang="en-US" sz="2000"/>
              <a:t>[Predictive]</a:t>
            </a:r>
            <a:endParaRPr lang="en-US"/>
          </a:p>
          <a:p>
            <a:r>
              <a:rPr lang="en-US"/>
              <a:t>Clustering </a:t>
            </a:r>
            <a:r>
              <a:rPr lang="en-US" sz="2000"/>
              <a:t>[Descriptive]</a:t>
            </a:r>
            <a:endParaRPr lang="en-US"/>
          </a:p>
          <a:p>
            <a:r>
              <a:rPr lang="en-US"/>
              <a:t>Association Rule Discovery </a:t>
            </a:r>
            <a:r>
              <a:rPr lang="en-US" sz="2000"/>
              <a:t>[Descriptive]</a:t>
            </a:r>
            <a:endParaRPr lang="en-US"/>
          </a:p>
          <a:p>
            <a:r>
              <a:rPr lang="en-US"/>
              <a:t>Sequential Pattern Discovery </a:t>
            </a:r>
            <a:r>
              <a:rPr lang="en-US" sz="2000"/>
              <a:t>[Descriptive]</a:t>
            </a:r>
            <a:endParaRPr lang="en-US"/>
          </a:p>
          <a:p>
            <a:r>
              <a:rPr lang="en-US"/>
              <a:t>Regression </a:t>
            </a:r>
            <a:r>
              <a:rPr lang="en-US" sz="2000"/>
              <a:t>[Predictive]</a:t>
            </a:r>
            <a:endParaRPr lang="en-US"/>
          </a:p>
          <a:p>
            <a:r>
              <a:rPr lang="en-US"/>
              <a:t>Anomaly Detection </a:t>
            </a:r>
            <a:r>
              <a:rPr lang="en-US" sz="2000"/>
              <a:t>[Predictive]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258" name="Rectangle 2"/>
          <p:cNvSpPr>
            <a:spLocks noGrp="1" noChangeArrowheads="1"/>
          </p:cNvSpPr>
          <p:nvPr>
            <p:ph type="title"/>
          </p:nvPr>
        </p:nvSpPr>
        <p:spPr/>
        <p:txBody>
          <a:bodyPr/>
          <a:lstStyle/>
          <a:p>
            <a:r>
              <a:rPr lang="en-US"/>
              <a:t>Classification: Definition</a:t>
            </a:r>
          </a:p>
        </p:txBody>
      </p:sp>
      <p:sp>
        <p:nvSpPr>
          <p:cNvPr id="736259" name="Rectangle 3"/>
          <p:cNvSpPr>
            <a:spLocks noGrp="1" noChangeArrowheads="1"/>
          </p:cNvSpPr>
          <p:nvPr>
            <p:ph idx="1"/>
          </p:nvPr>
        </p:nvSpPr>
        <p:spPr>
          <a:xfrm>
            <a:off x="381000" y="1143000"/>
            <a:ext cx="8458200" cy="4876800"/>
          </a:xfrm>
        </p:spPr>
        <p:txBody>
          <a:bodyPr>
            <a:normAutofit lnSpcReduction="10000"/>
          </a:bodyPr>
          <a:lstStyle/>
          <a:p>
            <a:pPr marL="342900" indent="-342900"/>
            <a:r>
              <a:rPr lang="en-US"/>
              <a:t>Given a collection of records (</a:t>
            </a:r>
            <a:r>
              <a:rPr lang="en-US" i="1">
                <a:solidFill>
                  <a:srgbClr val="CC0000"/>
                </a:solidFill>
              </a:rPr>
              <a:t>training set </a:t>
            </a:r>
            <a:r>
              <a:rPr lang="en-US"/>
              <a:t>)</a:t>
            </a:r>
          </a:p>
          <a:p>
            <a:pPr marL="742950" lvl="1" indent="-285750"/>
            <a:r>
              <a:rPr lang="en-US" sz="2400"/>
              <a:t>Each record contains a set of </a:t>
            </a:r>
            <a:r>
              <a:rPr lang="en-US" sz="2400" i="1">
                <a:solidFill>
                  <a:srgbClr val="CC0000"/>
                </a:solidFill>
              </a:rPr>
              <a:t>attributes</a:t>
            </a:r>
            <a:r>
              <a:rPr lang="en-US" sz="2400"/>
              <a:t>, one of the attributes is the </a:t>
            </a:r>
            <a:r>
              <a:rPr lang="en-US" sz="2400" i="1">
                <a:solidFill>
                  <a:srgbClr val="CC0000"/>
                </a:solidFill>
              </a:rPr>
              <a:t>class</a:t>
            </a:r>
            <a:r>
              <a:rPr lang="en-US" sz="2400"/>
              <a:t>.</a:t>
            </a:r>
            <a:endParaRPr lang="en-US"/>
          </a:p>
          <a:p>
            <a:pPr marL="342900" indent="-342900"/>
            <a:r>
              <a:rPr lang="en-US"/>
              <a:t>Task: Find a </a:t>
            </a:r>
            <a:r>
              <a:rPr lang="en-US" i="1">
                <a:solidFill>
                  <a:srgbClr val="CC0000"/>
                </a:solidFill>
              </a:rPr>
              <a:t>model</a:t>
            </a:r>
            <a:r>
              <a:rPr lang="en-US"/>
              <a:t>  for class attribute as a function of the values of other attributes.</a:t>
            </a:r>
          </a:p>
          <a:p>
            <a:pPr marL="342900" indent="-342900"/>
            <a:r>
              <a:rPr lang="en-US"/>
              <a:t>Goal: </a:t>
            </a:r>
            <a:r>
              <a:rPr lang="en-US" u="sng"/>
              <a:t>previously unseen</a:t>
            </a:r>
            <a:r>
              <a:rPr lang="en-US"/>
              <a:t> records should be assigned a class as accurately as possible.</a:t>
            </a:r>
          </a:p>
          <a:p>
            <a:pPr marL="742950" lvl="1" indent="-285750"/>
            <a:r>
              <a:rPr lang="en-US" sz="2400"/>
              <a:t>A </a:t>
            </a:r>
            <a:r>
              <a:rPr lang="en-US" sz="2400" i="1">
                <a:solidFill>
                  <a:srgbClr val="CC0000"/>
                </a:solidFill>
              </a:rPr>
              <a:t>test set</a:t>
            </a:r>
            <a:r>
              <a:rPr lang="en-US" sz="2400"/>
              <a:t> is used to determine the accuracy of the model. Usually, the given data set is divided into training and test sets, with training set used to build the model and test set used to validate it.</a:t>
            </a:r>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8306" name="Rectangle 2"/>
          <p:cNvSpPr>
            <a:spLocks noGrp="1" noChangeArrowheads="1"/>
          </p:cNvSpPr>
          <p:nvPr>
            <p:ph type="title"/>
          </p:nvPr>
        </p:nvSpPr>
        <p:spPr/>
        <p:txBody>
          <a:bodyPr/>
          <a:lstStyle/>
          <a:p>
            <a:r>
              <a:rPr lang="en-US"/>
              <a:t>Classification Example</a:t>
            </a:r>
          </a:p>
        </p:txBody>
      </p:sp>
      <p:graphicFrame>
        <p:nvGraphicFramePr>
          <p:cNvPr id="738307" name="Object 3"/>
          <p:cNvGraphicFramePr>
            <a:graphicFrameLocks noChangeAspect="1"/>
          </p:cNvGraphicFramePr>
          <p:nvPr/>
        </p:nvGraphicFramePr>
        <p:xfrm>
          <a:off x="228600" y="2057400"/>
          <a:ext cx="3565525" cy="3687763"/>
        </p:xfrm>
        <a:graphic>
          <a:graphicData uri="http://schemas.openxmlformats.org/presentationml/2006/ole">
            <mc:AlternateContent xmlns:mc="http://schemas.openxmlformats.org/markup-compatibility/2006">
              <mc:Choice xmlns:v="urn:schemas-microsoft-com:vml" Requires="v">
                <p:oleObj spid="_x0000_s27652" name="Document" r:id="rId3" imgW="5405040" imgH="5781600" progId="Word.Document.8">
                  <p:embed/>
                </p:oleObj>
              </mc:Choice>
              <mc:Fallback>
                <p:oleObj name="Document" r:id="rId3" imgW="5405040" imgH="5781600" progId="Word.Document.8">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 y="2057400"/>
                        <a:ext cx="3565525" cy="36877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38308" name="Text Box 4"/>
          <p:cNvSpPr txBox="1">
            <a:spLocks noChangeArrowheads="1"/>
          </p:cNvSpPr>
          <p:nvPr/>
        </p:nvSpPr>
        <p:spPr bwMode="auto">
          <a:xfrm rot="-2416809">
            <a:off x="838200" y="1433513"/>
            <a:ext cx="1257300" cy="336550"/>
          </a:xfrm>
          <a:prstGeom prst="rect">
            <a:avLst/>
          </a:prstGeom>
          <a:noFill/>
          <a:ln w="12700">
            <a:noFill/>
            <a:miter lim="800000"/>
            <a:headEnd/>
            <a:tailEnd/>
          </a:ln>
          <a:effectLst/>
        </p:spPr>
        <p:txBody>
          <a:bodyPr wrap="none">
            <a:spAutoFit/>
          </a:bodyPr>
          <a:lstStyle/>
          <a:p>
            <a:pPr marL="342900" indent="-342900" algn="ctr">
              <a:spcBef>
                <a:spcPct val="20000"/>
              </a:spcBef>
              <a:buClr>
                <a:schemeClr val="accent2"/>
              </a:buClr>
              <a:buSzPct val="75000"/>
              <a:buFont typeface="Monotype Sorts" pitchFamily="2" charset="2"/>
              <a:buNone/>
            </a:pPr>
            <a:r>
              <a:rPr lang="en-US" sz="1600">
                <a:solidFill>
                  <a:srgbClr val="006600"/>
                </a:solidFill>
              </a:rPr>
              <a:t>categorical</a:t>
            </a:r>
            <a:endParaRPr lang="en-US" sz="1600">
              <a:solidFill>
                <a:schemeClr val="bg2"/>
              </a:solidFill>
            </a:endParaRPr>
          </a:p>
        </p:txBody>
      </p:sp>
      <p:sp>
        <p:nvSpPr>
          <p:cNvPr id="738309" name="Text Box 5"/>
          <p:cNvSpPr txBox="1">
            <a:spLocks noChangeArrowheads="1"/>
          </p:cNvSpPr>
          <p:nvPr/>
        </p:nvSpPr>
        <p:spPr bwMode="auto">
          <a:xfrm rot="-2416809">
            <a:off x="1600200" y="1433513"/>
            <a:ext cx="1257300" cy="336550"/>
          </a:xfrm>
          <a:prstGeom prst="rect">
            <a:avLst/>
          </a:prstGeom>
          <a:noFill/>
          <a:ln w="12700">
            <a:noFill/>
            <a:miter lim="800000"/>
            <a:headEnd/>
            <a:tailEnd/>
          </a:ln>
          <a:effectLst/>
        </p:spPr>
        <p:txBody>
          <a:bodyPr wrap="none">
            <a:spAutoFit/>
          </a:bodyPr>
          <a:lstStyle/>
          <a:p>
            <a:pPr marL="342900" indent="-342900" algn="ctr">
              <a:spcBef>
                <a:spcPct val="20000"/>
              </a:spcBef>
              <a:buClr>
                <a:schemeClr val="accent2"/>
              </a:buClr>
              <a:buSzPct val="75000"/>
              <a:buFont typeface="Monotype Sorts" pitchFamily="2" charset="2"/>
              <a:buNone/>
            </a:pPr>
            <a:r>
              <a:rPr lang="en-US" sz="1600">
                <a:solidFill>
                  <a:srgbClr val="006600"/>
                </a:solidFill>
              </a:rPr>
              <a:t>categorical</a:t>
            </a:r>
            <a:endParaRPr lang="en-US" sz="1600">
              <a:solidFill>
                <a:schemeClr val="bg2"/>
              </a:solidFill>
            </a:endParaRPr>
          </a:p>
        </p:txBody>
      </p:sp>
      <p:sp>
        <p:nvSpPr>
          <p:cNvPr id="738310" name="Text Box 6"/>
          <p:cNvSpPr txBox="1">
            <a:spLocks noChangeArrowheads="1"/>
          </p:cNvSpPr>
          <p:nvPr/>
        </p:nvSpPr>
        <p:spPr bwMode="auto">
          <a:xfrm rot="-2416809">
            <a:off x="2362200" y="1433513"/>
            <a:ext cx="1277938" cy="336550"/>
          </a:xfrm>
          <a:prstGeom prst="rect">
            <a:avLst/>
          </a:prstGeom>
          <a:noFill/>
          <a:ln w="12700">
            <a:noFill/>
            <a:miter lim="800000"/>
            <a:headEnd/>
            <a:tailEnd/>
          </a:ln>
          <a:effectLst/>
        </p:spPr>
        <p:txBody>
          <a:bodyPr wrap="none">
            <a:spAutoFit/>
          </a:bodyPr>
          <a:lstStyle/>
          <a:p>
            <a:pPr marL="342900" indent="-342900" algn="ctr">
              <a:spcBef>
                <a:spcPct val="20000"/>
              </a:spcBef>
              <a:buClr>
                <a:schemeClr val="accent2"/>
              </a:buClr>
              <a:buSzPct val="75000"/>
              <a:buFont typeface="Monotype Sorts" pitchFamily="2" charset="2"/>
              <a:buNone/>
            </a:pPr>
            <a:r>
              <a:rPr lang="en-US" sz="1600">
                <a:solidFill>
                  <a:srgbClr val="006600"/>
                </a:solidFill>
              </a:rPr>
              <a:t>continuous</a:t>
            </a:r>
            <a:endParaRPr lang="en-US" sz="1600">
              <a:solidFill>
                <a:schemeClr val="bg2"/>
              </a:solidFill>
            </a:endParaRPr>
          </a:p>
        </p:txBody>
      </p:sp>
      <p:sp>
        <p:nvSpPr>
          <p:cNvPr id="738311" name="Text Box 7"/>
          <p:cNvSpPr txBox="1">
            <a:spLocks noChangeArrowheads="1"/>
          </p:cNvSpPr>
          <p:nvPr/>
        </p:nvSpPr>
        <p:spPr bwMode="auto">
          <a:xfrm rot="-2416809">
            <a:off x="3124200" y="1662113"/>
            <a:ext cx="692150" cy="336550"/>
          </a:xfrm>
          <a:prstGeom prst="rect">
            <a:avLst/>
          </a:prstGeom>
          <a:noFill/>
          <a:ln w="12700">
            <a:noFill/>
            <a:miter lim="800000"/>
            <a:headEnd/>
            <a:tailEnd/>
          </a:ln>
          <a:effectLst/>
        </p:spPr>
        <p:txBody>
          <a:bodyPr wrap="none">
            <a:spAutoFit/>
          </a:bodyPr>
          <a:lstStyle/>
          <a:p>
            <a:pPr marL="342900" indent="-342900" algn="ctr">
              <a:spcBef>
                <a:spcPct val="20000"/>
              </a:spcBef>
              <a:buClr>
                <a:schemeClr val="accent2"/>
              </a:buClr>
              <a:buSzPct val="75000"/>
              <a:buFont typeface="Monotype Sorts" pitchFamily="2" charset="2"/>
              <a:buNone/>
            </a:pPr>
            <a:r>
              <a:rPr lang="en-US" sz="1600">
                <a:solidFill>
                  <a:srgbClr val="006600"/>
                </a:solidFill>
              </a:rPr>
              <a:t>class</a:t>
            </a:r>
            <a:endParaRPr lang="en-US" sz="1600">
              <a:solidFill>
                <a:schemeClr val="bg2"/>
              </a:solidFill>
            </a:endParaRPr>
          </a:p>
        </p:txBody>
      </p:sp>
      <p:graphicFrame>
        <p:nvGraphicFramePr>
          <p:cNvPr id="738312" name="Object 8"/>
          <p:cNvGraphicFramePr>
            <a:graphicFrameLocks noChangeAspect="1"/>
          </p:cNvGraphicFramePr>
          <p:nvPr/>
        </p:nvGraphicFramePr>
        <p:xfrm>
          <a:off x="4267200" y="2043113"/>
          <a:ext cx="2994025" cy="2646362"/>
        </p:xfrm>
        <a:graphic>
          <a:graphicData uri="http://schemas.openxmlformats.org/presentationml/2006/ole">
            <mc:AlternateContent xmlns:mc="http://schemas.openxmlformats.org/markup-compatibility/2006">
              <mc:Choice xmlns:v="urn:schemas-microsoft-com:vml" Requires="v">
                <p:oleObj spid="_x0000_s27653" name="Document" r:id="rId5" imgW="4614480" imgH="4076640" progId="Word.Document.8">
                  <p:embed/>
                </p:oleObj>
              </mc:Choice>
              <mc:Fallback>
                <p:oleObj name="Document" r:id="rId5" imgW="4614480" imgH="4076640" progId="Word.Document.8">
                  <p:embed/>
                  <p:pic>
                    <p:nvPicPr>
                      <p:cNvPr id="0"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67200" y="2043113"/>
                        <a:ext cx="2994025" cy="26463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 name="Group 9"/>
          <p:cNvGrpSpPr>
            <a:grpSpLocks/>
          </p:cNvGrpSpPr>
          <p:nvPr/>
        </p:nvGrpSpPr>
        <p:grpSpPr bwMode="auto">
          <a:xfrm>
            <a:off x="7696200" y="3948113"/>
            <a:ext cx="990600" cy="685800"/>
            <a:chOff x="4944" y="2736"/>
            <a:chExt cx="624" cy="432"/>
          </a:xfrm>
        </p:grpSpPr>
        <p:sp>
          <p:nvSpPr>
            <p:cNvPr id="738314" name="AutoShape 10"/>
            <p:cNvSpPr>
              <a:spLocks noChangeArrowheads="1"/>
            </p:cNvSpPr>
            <p:nvPr/>
          </p:nvSpPr>
          <p:spPr bwMode="auto">
            <a:xfrm>
              <a:off x="4944" y="2736"/>
              <a:ext cx="624" cy="432"/>
            </a:xfrm>
            <a:prstGeom prst="can">
              <a:avLst>
                <a:gd name="adj" fmla="val 25000"/>
              </a:avLst>
            </a:prstGeom>
            <a:solidFill>
              <a:srgbClr val="CCCCFF"/>
            </a:solidFill>
            <a:ln w="12700">
              <a:solidFill>
                <a:srgbClr val="0000FF"/>
              </a:solidFill>
              <a:round/>
              <a:headEnd/>
              <a:tailEnd/>
            </a:ln>
            <a:effectLst/>
          </p:spPr>
          <p:txBody>
            <a:bodyPr wrap="none" anchor="ctr"/>
            <a:lstStyle/>
            <a:p>
              <a:endParaRPr lang="id-ID"/>
            </a:p>
          </p:txBody>
        </p:sp>
        <p:sp>
          <p:nvSpPr>
            <p:cNvPr id="738315" name="Text Box 11"/>
            <p:cNvSpPr txBox="1">
              <a:spLocks noChangeArrowheads="1"/>
            </p:cNvSpPr>
            <p:nvPr/>
          </p:nvSpPr>
          <p:spPr bwMode="auto">
            <a:xfrm>
              <a:off x="5086" y="2856"/>
              <a:ext cx="345" cy="299"/>
            </a:xfrm>
            <a:prstGeom prst="rect">
              <a:avLst/>
            </a:prstGeom>
            <a:solidFill>
              <a:srgbClr val="CCCCFF"/>
            </a:solidFill>
            <a:ln w="12700">
              <a:noFill/>
              <a:miter lim="800000"/>
              <a:headEnd/>
              <a:tailEnd/>
            </a:ln>
            <a:effectLst/>
          </p:spPr>
          <p:txBody>
            <a:bodyPr wrap="none">
              <a:spAutoFit/>
            </a:bodyPr>
            <a:lstStyle/>
            <a:p>
              <a:pPr marL="342900" indent="-342900" algn="ctr">
                <a:lnSpc>
                  <a:spcPct val="80000"/>
                </a:lnSpc>
                <a:spcBef>
                  <a:spcPct val="20000"/>
                </a:spcBef>
                <a:buClr>
                  <a:schemeClr val="accent2"/>
                </a:buClr>
                <a:buSzPct val="75000"/>
                <a:buFont typeface="Monotype Sorts" pitchFamily="2" charset="2"/>
                <a:buNone/>
              </a:pPr>
              <a:r>
                <a:rPr lang="en-US">
                  <a:solidFill>
                    <a:srgbClr val="0000CC"/>
                  </a:solidFill>
                </a:rPr>
                <a:t>Test</a:t>
              </a:r>
            </a:p>
            <a:p>
              <a:pPr marL="342900" indent="-342900" algn="ctr">
                <a:lnSpc>
                  <a:spcPct val="80000"/>
                </a:lnSpc>
                <a:spcBef>
                  <a:spcPct val="20000"/>
                </a:spcBef>
                <a:buClr>
                  <a:schemeClr val="accent2"/>
                </a:buClr>
                <a:buSzPct val="75000"/>
                <a:buFont typeface="Monotype Sorts" pitchFamily="2" charset="2"/>
                <a:buNone/>
              </a:pPr>
              <a:r>
                <a:rPr lang="en-US">
                  <a:solidFill>
                    <a:srgbClr val="0000CC"/>
                  </a:solidFill>
                </a:rPr>
                <a:t>Set</a:t>
              </a:r>
              <a:endParaRPr lang="en-US" b="0">
                <a:solidFill>
                  <a:schemeClr val="bg2"/>
                </a:solidFill>
              </a:endParaRPr>
            </a:p>
          </p:txBody>
        </p:sp>
      </p:grpSp>
      <p:sp>
        <p:nvSpPr>
          <p:cNvPr id="738316" name="AutoShape 12"/>
          <p:cNvSpPr>
            <a:spLocks noChangeArrowheads="1"/>
          </p:cNvSpPr>
          <p:nvPr/>
        </p:nvSpPr>
        <p:spPr bwMode="auto">
          <a:xfrm>
            <a:off x="3886200" y="5091113"/>
            <a:ext cx="990600" cy="685800"/>
          </a:xfrm>
          <a:prstGeom prst="can">
            <a:avLst>
              <a:gd name="adj" fmla="val 25056"/>
            </a:avLst>
          </a:prstGeom>
          <a:solidFill>
            <a:schemeClr val="accent2"/>
          </a:solidFill>
          <a:ln w="12700">
            <a:solidFill>
              <a:srgbClr val="0000FF"/>
            </a:solidFill>
            <a:round/>
            <a:headEnd/>
            <a:tailEnd/>
          </a:ln>
          <a:effectLst/>
        </p:spPr>
        <p:txBody>
          <a:bodyPr wrap="none" anchor="ctr"/>
          <a:lstStyle/>
          <a:p>
            <a:endParaRPr lang="id-ID"/>
          </a:p>
        </p:txBody>
      </p:sp>
      <p:sp>
        <p:nvSpPr>
          <p:cNvPr id="738317" name="Text Box 13"/>
          <p:cNvSpPr txBox="1">
            <a:spLocks noChangeArrowheads="1"/>
          </p:cNvSpPr>
          <p:nvPr/>
        </p:nvSpPr>
        <p:spPr bwMode="auto">
          <a:xfrm>
            <a:off x="3886200" y="5238750"/>
            <a:ext cx="1042988" cy="531813"/>
          </a:xfrm>
          <a:prstGeom prst="rect">
            <a:avLst/>
          </a:prstGeom>
          <a:noFill/>
          <a:ln w="12700">
            <a:noFill/>
            <a:miter lim="800000"/>
            <a:headEnd/>
            <a:tailEnd/>
          </a:ln>
          <a:effectLst/>
        </p:spPr>
        <p:txBody>
          <a:bodyPr wrap="none">
            <a:spAutoFit/>
          </a:bodyPr>
          <a:lstStyle/>
          <a:p>
            <a:pPr marL="342900" indent="-342900" algn="ctr">
              <a:lnSpc>
                <a:spcPct val="80000"/>
              </a:lnSpc>
              <a:spcBef>
                <a:spcPct val="20000"/>
              </a:spcBef>
              <a:buClr>
                <a:schemeClr val="accent2"/>
              </a:buClr>
              <a:buSzPct val="75000"/>
              <a:buFont typeface="Monotype Sorts" pitchFamily="2" charset="2"/>
              <a:buNone/>
            </a:pPr>
            <a:r>
              <a:rPr lang="en-US" sz="1600">
                <a:solidFill>
                  <a:schemeClr val="tx2"/>
                </a:solidFill>
              </a:rPr>
              <a:t>Training </a:t>
            </a:r>
          </a:p>
          <a:p>
            <a:pPr marL="342900" indent="-342900" algn="ctr">
              <a:lnSpc>
                <a:spcPct val="80000"/>
              </a:lnSpc>
              <a:spcBef>
                <a:spcPct val="20000"/>
              </a:spcBef>
              <a:buClr>
                <a:schemeClr val="accent2"/>
              </a:buClr>
              <a:buSzPct val="75000"/>
              <a:buFont typeface="Monotype Sorts" pitchFamily="2" charset="2"/>
              <a:buNone/>
            </a:pPr>
            <a:r>
              <a:rPr lang="en-US" sz="1600">
                <a:solidFill>
                  <a:schemeClr val="tx2"/>
                </a:solidFill>
              </a:rPr>
              <a:t>Set</a:t>
            </a:r>
            <a:endParaRPr lang="en-US" b="0">
              <a:solidFill>
                <a:schemeClr val="bg2"/>
              </a:solidFill>
            </a:endParaRPr>
          </a:p>
        </p:txBody>
      </p:sp>
      <p:grpSp>
        <p:nvGrpSpPr>
          <p:cNvPr id="3" name="Group 14"/>
          <p:cNvGrpSpPr>
            <a:grpSpLocks/>
          </p:cNvGrpSpPr>
          <p:nvPr/>
        </p:nvGrpSpPr>
        <p:grpSpPr bwMode="auto">
          <a:xfrm>
            <a:off x="7637463" y="5086350"/>
            <a:ext cx="1125537" cy="690563"/>
            <a:chOff x="3360" y="2880"/>
            <a:chExt cx="672" cy="415"/>
          </a:xfrm>
        </p:grpSpPr>
        <p:sp>
          <p:nvSpPr>
            <p:cNvPr id="738319" name="AutoShape 15"/>
            <p:cNvSpPr>
              <a:spLocks noChangeArrowheads="1"/>
            </p:cNvSpPr>
            <p:nvPr/>
          </p:nvSpPr>
          <p:spPr bwMode="auto">
            <a:xfrm>
              <a:off x="3360" y="2880"/>
              <a:ext cx="672" cy="415"/>
            </a:xfrm>
            <a:prstGeom prst="flowChartMultidocument">
              <a:avLst/>
            </a:prstGeom>
            <a:solidFill>
              <a:srgbClr val="00E0CB"/>
            </a:solidFill>
            <a:ln w="12700">
              <a:solidFill>
                <a:schemeClr val="bg2"/>
              </a:solidFill>
              <a:miter lim="800000"/>
              <a:headEnd/>
              <a:tailEnd/>
            </a:ln>
            <a:effectLst/>
          </p:spPr>
          <p:txBody>
            <a:bodyPr wrap="none" anchor="ctr"/>
            <a:lstStyle/>
            <a:p>
              <a:endParaRPr lang="id-ID"/>
            </a:p>
          </p:txBody>
        </p:sp>
        <p:sp>
          <p:nvSpPr>
            <p:cNvPr id="738320" name="Text Box 16"/>
            <p:cNvSpPr txBox="1">
              <a:spLocks noChangeArrowheads="1"/>
            </p:cNvSpPr>
            <p:nvPr/>
          </p:nvSpPr>
          <p:spPr bwMode="auto">
            <a:xfrm>
              <a:off x="3392" y="2978"/>
              <a:ext cx="547" cy="239"/>
            </a:xfrm>
            <a:prstGeom prst="rect">
              <a:avLst/>
            </a:prstGeom>
            <a:noFill/>
            <a:ln w="12700">
              <a:noFill/>
              <a:miter lim="800000"/>
              <a:headEnd/>
              <a:tailEnd/>
            </a:ln>
            <a:effectLst/>
          </p:spPr>
          <p:txBody>
            <a:bodyPr wrap="none">
              <a:spAutoFit/>
            </a:bodyPr>
            <a:lstStyle/>
            <a:p>
              <a:pPr marL="342900" indent="-342900" algn="r">
                <a:spcBef>
                  <a:spcPct val="20000"/>
                </a:spcBef>
                <a:buClr>
                  <a:schemeClr val="accent2"/>
                </a:buClr>
                <a:buSzPct val="75000"/>
                <a:buFont typeface="Monotype Sorts" pitchFamily="2" charset="2"/>
                <a:buNone/>
              </a:pPr>
              <a:r>
                <a:rPr lang="en-US" sz="2000">
                  <a:solidFill>
                    <a:srgbClr val="CC0000"/>
                  </a:solidFill>
                </a:rPr>
                <a:t>Model</a:t>
              </a:r>
              <a:endParaRPr lang="en-US" b="0">
                <a:solidFill>
                  <a:schemeClr val="bg2"/>
                </a:solidFill>
              </a:endParaRPr>
            </a:p>
          </p:txBody>
        </p:sp>
      </p:grpSp>
      <p:sp>
        <p:nvSpPr>
          <p:cNvPr id="738321" name="AutoShape 17"/>
          <p:cNvSpPr>
            <a:spLocks noChangeArrowheads="1"/>
          </p:cNvSpPr>
          <p:nvPr/>
        </p:nvSpPr>
        <p:spPr bwMode="auto">
          <a:xfrm>
            <a:off x="5486400" y="4938713"/>
            <a:ext cx="1447800" cy="995362"/>
          </a:xfrm>
          <a:prstGeom prst="bevel">
            <a:avLst>
              <a:gd name="adj" fmla="val 12500"/>
            </a:avLst>
          </a:prstGeom>
          <a:solidFill>
            <a:srgbClr val="C0C0C0"/>
          </a:solidFill>
          <a:ln w="12700">
            <a:noFill/>
            <a:miter lim="800000"/>
            <a:headEnd/>
            <a:tailEnd/>
          </a:ln>
          <a:effectLst/>
        </p:spPr>
        <p:txBody>
          <a:bodyPr wrap="none" anchor="ctr"/>
          <a:lstStyle/>
          <a:p>
            <a:endParaRPr lang="id-ID"/>
          </a:p>
        </p:txBody>
      </p:sp>
      <p:sp>
        <p:nvSpPr>
          <p:cNvPr id="738322" name="Text Box 18"/>
          <p:cNvSpPr txBox="1">
            <a:spLocks noChangeArrowheads="1"/>
          </p:cNvSpPr>
          <p:nvPr/>
        </p:nvSpPr>
        <p:spPr bwMode="auto">
          <a:xfrm>
            <a:off x="5562600" y="5014913"/>
            <a:ext cx="1325563" cy="762000"/>
          </a:xfrm>
          <a:prstGeom prst="rect">
            <a:avLst/>
          </a:prstGeom>
          <a:noFill/>
          <a:ln w="12700">
            <a:noFill/>
            <a:miter lim="800000"/>
            <a:headEnd/>
            <a:tailEnd/>
          </a:ln>
          <a:effectLst/>
        </p:spPr>
        <p:txBody>
          <a:bodyPr wrap="none">
            <a:spAutoFit/>
          </a:bodyPr>
          <a:lstStyle/>
          <a:p>
            <a:pPr marL="342900" indent="-342900" algn="ctr">
              <a:spcBef>
                <a:spcPct val="20000"/>
              </a:spcBef>
              <a:buClr>
                <a:schemeClr val="accent2"/>
              </a:buClr>
              <a:buSzPct val="75000"/>
              <a:buFont typeface="Monotype Sorts" pitchFamily="2" charset="2"/>
              <a:buNone/>
            </a:pPr>
            <a:r>
              <a:rPr lang="en-US" sz="2000">
                <a:solidFill>
                  <a:srgbClr val="000000"/>
                </a:solidFill>
              </a:rPr>
              <a:t>Learn </a:t>
            </a:r>
          </a:p>
          <a:p>
            <a:pPr marL="342900" indent="-342900" algn="ctr">
              <a:spcBef>
                <a:spcPct val="20000"/>
              </a:spcBef>
              <a:buClr>
                <a:schemeClr val="accent2"/>
              </a:buClr>
              <a:buSzPct val="75000"/>
              <a:buFont typeface="Monotype Sorts" pitchFamily="2" charset="2"/>
              <a:buNone/>
            </a:pPr>
            <a:r>
              <a:rPr lang="en-US" sz="2000">
                <a:solidFill>
                  <a:srgbClr val="000000"/>
                </a:solidFill>
              </a:rPr>
              <a:t>Classifier</a:t>
            </a:r>
            <a:endParaRPr lang="en-US" b="0">
              <a:solidFill>
                <a:srgbClr val="00E0CB"/>
              </a:solidFill>
            </a:endParaRPr>
          </a:p>
        </p:txBody>
      </p:sp>
      <p:sp>
        <p:nvSpPr>
          <p:cNvPr id="738323" name="AutoShape 19"/>
          <p:cNvSpPr>
            <a:spLocks noChangeArrowheads="1"/>
          </p:cNvSpPr>
          <p:nvPr/>
        </p:nvSpPr>
        <p:spPr bwMode="auto">
          <a:xfrm>
            <a:off x="4987925" y="5349875"/>
            <a:ext cx="484188" cy="141288"/>
          </a:xfrm>
          <a:prstGeom prst="rightArrow">
            <a:avLst>
              <a:gd name="adj1" fmla="val 50000"/>
              <a:gd name="adj2" fmla="val 85674"/>
            </a:avLst>
          </a:prstGeom>
          <a:solidFill>
            <a:srgbClr val="CC0000"/>
          </a:solidFill>
          <a:ln w="12700">
            <a:solidFill>
              <a:srgbClr val="CC0000"/>
            </a:solidFill>
            <a:miter lim="800000"/>
            <a:headEnd/>
            <a:tailEnd/>
          </a:ln>
          <a:effectLst/>
        </p:spPr>
        <p:txBody>
          <a:bodyPr wrap="none" anchor="ctr"/>
          <a:lstStyle/>
          <a:p>
            <a:endParaRPr lang="id-ID"/>
          </a:p>
        </p:txBody>
      </p:sp>
      <p:sp>
        <p:nvSpPr>
          <p:cNvPr id="738324" name="AutoShape 20"/>
          <p:cNvSpPr>
            <a:spLocks noChangeArrowheads="1"/>
          </p:cNvSpPr>
          <p:nvPr/>
        </p:nvSpPr>
        <p:spPr bwMode="auto">
          <a:xfrm>
            <a:off x="7010400" y="5314950"/>
            <a:ext cx="484188" cy="141288"/>
          </a:xfrm>
          <a:prstGeom prst="rightArrow">
            <a:avLst>
              <a:gd name="adj1" fmla="val 50000"/>
              <a:gd name="adj2" fmla="val 85674"/>
            </a:avLst>
          </a:prstGeom>
          <a:solidFill>
            <a:srgbClr val="CC0000"/>
          </a:solidFill>
          <a:ln w="12700">
            <a:solidFill>
              <a:srgbClr val="CC0000"/>
            </a:solidFill>
            <a:miter lim="800000"/>
            <a:headEnd/>
            <a:tailEnd/>
          </a:ln>
          <a:effectLst/>
        </p:spPr>
        <p:txBody>
          <a:bodyPr wrap="none" anchor="ctr"/>
          <a:lstStyle/>
          <a:p>
            <a:endParaRPr lang="id-ID"/>
          </a:p>
        </p:txBody>
      </p:sp>
      <p:sp>
        <p:nvSpPr>
          <p:cNvPr id="738325" name="AutoShape 21"/>
          <p:cNvSpPr>
            <a:spLocks noChangeArrowheads="1"/>
          </p:cNvSpPr>
          <p:nvPr/>
        </p:nvSpPr>
        <p:spPr bwMode="auto">
          <a:xfrm rot="5400000">
            <a:off x="8073231" y="4790282"/>
            <a:ext cx="312737" cy="152400"/>
          </a:xfrm>
          <a:prstGeom prst="rightArrow">
            <a:avLst>
              <a:gd name="adj1" fmla="val 50000"/>
              <a:gd name="adj2" fmla="val 51302"/>
            </a:avLst>
          </a:prstGeom>
          <a:solidFill>
            <a:srgbClr val="CC0000"/>
          </a:solidFill>
          <a:ln w="12700">
            <a:solidFill>
              <a:srgbClr val="CC0000"/>
            </a:solidFill>
            <a:miter lim="800000"/>
            <a:headEnd/>
            <a:tailEnd/>
          </a:ln>
          <a:effectLst/>
        </p:spPr>
        <p:txBody>
          <a:bodyPr wrap="none" anchor="ctr"/>
          <a:lstStyle/>
          <a:p>
            <a:endParaRPr lang="id-ID"/>
          </a:p>
        </p:txBody>
      </p:sp>
      <p:sp>
        <p:nvSpPr>
          <p:cNvPr id="738326" name="Line 22"/>
          <p:cNvSpPr>
            <a:spLocks noChangeShapeType="1"/>
          </p:cNvSpPr>
          <p:nvPr/>
        </p:nvSpPr>
        <p:spPr bwMode="auto">
          <a:xfrm>
            <a:off x="3657600" y="4481513"/>
            <a:ext cx="304800" cy="609600"/>
          </a:xfrm>
          <a:prstGeom prst="line">
            <a:avLst/>
          </a:prstGeom>
          <a:noFill/>
          <a:ln w="9525">
            <a:solidFill>
              <a:schemeClr val="tx1"/>
            </a:solidFill>
            <a:round/>
            <a:headEnd/>
            <a:tailEnd type="triangle" w="med" len="med"/>
          </a:ln>
          <a:effectLst/>
        </p:spPr>
        <p:txBody>
          <a:bodyPr wrap="none" anchor="ctr"/>
          <a:lstStyle/>
          <a:p>
            <a:endParaRPr lang="id-ID"/>
          </a:p>
        </p:txBody>
      </p:sp>
      <p:sp>
        <p:nvSpPr>
          <p:cNvPr id="738327" name="Line 23"/>
          <p:cNvSpPr>
            <a:spLocks noChangeShapeType="1"/>
          </p:cNvSpPr>
          <p:nvPr/>
        </p:nvSpPr>
        <p:spPr bwMode="auto">
          <a:xfrm>
            <a:off x="7315200" y="3414713"/>
            <a:ext cx="304800" cy="609600"/>
          </a:xfrm>
          <a:prstGeom prst="line">
            <a:avLst/>
          </a:prstGeom>
          <a:noFill/>
          <a:ln w="9525">
            <a:solidFill>
              <a:schemeClr val="tx1"/>
            </a:solidFill>
            <a:round/>
            <a:headEnd/>
            <a:tailEnd type="triangle" w="med" len="med"/>
          </a:ln>
          <a:effectLst/>
        </p:spPr>
        <p:txBody>
          <a:bodyPr wrap="none" anchor="ctr"/>
          <a:lstStyle/>
          <a:p>
            <a:endParaRPr lang="id-ID"/>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5474" name="Rectangle 2"/>
          <p:cNvSpPr>
            <a:spLocks noGrp="1" noChangeArrowheads="1"/>
          </p:cNvSpPr>
          <p:nvPr>
            <p:ph type="title"/>
          </p:nvPr>
        </p:nvSpPr>
        <p:spPr/>
        <p:txBody>
          <a:bodyPr/>
          <a:lstStyle/>
          <a:p>
            <a:r>
              <a:rPr lang="en-US"/>
              <a:t>Clustering Definition</a:t>
            </a:r>
          </a:p>
        </p:txBody>
      </p:sp>
      <p:sp>
        <p:nvSpPr>
          <p:cNvPr id="745475" name="Rectangle 3"/>
          <p:cNvSpPr>
            <a:spLocks noGrp="1" noChangeArrowheads="1"/>
          </p:cNvSpPr>
          <p:nvPr>
            <p:ph idx="1"/>
          </p:nvPr>
        </p:nvSpPr>
        <p:spPr/>
        <p:txBody>
          <a:bodyPr>
            <a:normAutofit lnSpcReduction="10000"/>
          </a:bodyPr>
          <a:lstStyle/>
          <a:p>
            <a:pPr marL="342900" indent="-342900">
              <a:lnSpc>
                <a:spcPct val="90000"/>
              </a:lnSpc>
            </a:pPr>
            <a:r>
              <a:rPr lang="en-US"/>
              <a:t>Given a set of data points, each having a set of attributes, and a similarity measure among them, find clusters such that</a:t>
            </a:r>
          </a:p>
          <a:p>
            <a:pPr marL="742950" lvl="1" indent="-285750">
              <a:lnSpc>
                <a:spcPct val="90000"/>
              </a:lnSpc>
            </a:pPr>
            <a:r>
              <a:rPr lang="en-US"/>
              <a:t>Data points in one cluster are more similar to one another.</a:t>
            </a:r>
          </a:p>
          <a:p>
            <a:pPr marL="742950" lvl="1" indent="-285750">
              <a:lnSpc>
                <a:spcPct val="90000"/>
              </a:lnSpc>
            </a:pPr>
            <a:r>
              <a:rPr lang="en-US"/>
              <a:t>Data points in separate clusters are less similar to one another.</a:t>
            </a:r>
          </a:p>
          <a:p>
            <a:pPr marL="342900" indent="-342900">
              <a:lnSpc>
                <a:spcPct val="90000"/>
              </a:lnSpc>
            </a:pPr>
            <a:r>
              <a:rPr lang="en-US"/>
              <a:t>Similarity Measures:</a:t>
            </a:r>
          </a:p>
          <a:p>
            <a:pPr marL="742950" lvl="1" indent="-285750">
              <a:lnSpc>
                <a:spcPct val="90000"/>
              </a:lnSpc>
            </a:pPr>
            <a:r>
              <a:rPr lang="en-US"/>
              <a:t>Euclidean Distance if attributes are continuous.</a:t>
            </a:r>
          </a:p>
          <a:p>
            <a:pPr marL="742950" lvl="1" indent="-285750">
              <a:lnSpc>
                <a:spcPct val="90000"/>
              </a:lnSpc>
            </a:pPr>
            <a:r>
              <a:rPr lang="en-US"/>
              <a:t>Other Problem-specific Measures.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22" name="Rectangle 2"/>
          <p:cNvSpPr>
            <a:spLocks noGrp="1" noChangeArrowheads="1"/>
          </p:cNvSpPr>
          <p:nvPr>
            <p:ph type="title"/>
          </p:nvPr>
        </p:nvSpPr>
        <p:spPr/>
        <p:txBody>
          <a:bodyPr/>
          <a:lstStyle/>
          <a:p>
            <a:r>
              <a:rPr lang="en-US"/>
              <a:t>Illustrating Clustering</a:t>
            </a:r>
          </a:p>
        </p:txBody>
      </p:sp>
      <p:sp>
        <p:nvSpPr>
          <p:cNvPr id="747523" name="Text Box 3"/>
          <p:cNvSpPr txBox="1">
            <a:spLocks noChangeArrowheads="1"/>
          </p:cNvSpPr>
          <p:nvPr/>
        </p:nvSpPr>
        <p:spPr bwMode="auto">
          <a:xfrm>
            <a:off x="381000" y="1295400"/>
            <a:ext cx="5951538" cy="396875"/>
          </a:xfrm>
          <a:prstGeom prst="rect">
            <a:avLst/>
          </a:prstGeom>
          <a:noFill/>
          <a:ln w="9525">
            <a:noFill/>
            <a:miter lim="800000"/>
            <a:headEnd/>
            <a:tailEnd/>
          </a:ln>
          <a:effectLst/>
        </p:spPr>
        <p:txBody>
          <a:bodyPr wrap="none">
            <a:spAutoFit/>
          </a:bodyPr>
          <a:lstStyle/>
          <a:p>
            <a:pPr marL="168275" indent="-168275">
              <a:spcBef>
                <a:spcPct val="20000"/>
              </a:spcBef>
              <a:buClr>
                <a:schemeClr val="accent2"/>
              </a:buClr>
              <a:buFont typeface="Monotype Sorts" pitchFamily="2" charset="2"/>
              <a:buChar char="x"/>
            </a:pPr>
            <a:r>
              <a:rPr kumimoji="1" lang="en-US" sz="2000" b="0">
                <a:latin typeface="Tahoma" pitchFamily="34" charset="0"/>
              </a:rPr>
              <a:t>Euclidean Distance Based Clustering in 3-D space.</a:t>
            </a:r>
          </a:p>
        </p:txBody>
      </p:sp>
      <p:sp>
        <p:nvSpPr>
          <p:cNvPr id="747524" name="Text Box 4"/>
          <p:cNvSpPr txBox="1">
            <a:spLocks noChangeArrowheads="1"/>
          </p:cNvSpPr>
          <p:nvPr/>
        </p:nvSpPr>
        <p:spPr bwMode="auto">
          <a:xfrm>
            <a:off x="1295400" y="1981200"/>
            <a:ext cx="2762250" cy="822325"/>
          </a:xfrm>
          <a:prstGeom prst="rect">
            <a:avLst/>
          </a:prstGeom>
          <a:solidFill>
            <a:srgbClr val="00FFCC"/>
          </a:solidFill>
          <a:ln w="9525">
            <a:noFill/>
            <a:miter lim="800000"/>
            <a:headEnd/>
            <a:tailEnd/>
          </a:ln>
          <a:effectLst>
            <a:outerShdw dist="107763" dir="2700000" algn="ctr" rotWithShape="0">
              <a:schemeClr val="bg2"/>
            </a:outerShdw>
          </a:effectLst>
        </p:spPr>
        <p:txBody>
          <a:bodyPr wrap="none">
            <a:spAutoFit/>
          </a:bodyPr>
          <a:lstStyle/>
          <a:p>
            <a:pPr algn="ctr"/>
            <a:r>
              <a:rPr lang="en-US" sz="2400" b="0">
                <a:latin typeface="Times New Roman" pitchFamily="18" charset="0"/>
              </a:rPr>
              <a:t>Intracluster distances</a:t>
            </a:r>
          </a:p>
          <a:p>
            <a:pPr algn="ctr"/>
            <a:r>
              <a:rPr lang="en-US" sz="2400" b="0">
                <a:latin typeface="Times New Roman" pitchFamily="18" charset="0"/>
              </a:rPr>
              <a:t>are minimized</a:t>
            </a:r>
          </a:p>
        </p:txBody>
      </p:sp>
      <p:sp>
        <p:nvSpPr>
          <p:cNvPr id="747525" name="Text Box 5"/>
          <p:cNvSpPr txBox="1">
            <a:spLocks noChangeArrowheads="1"/>
          </p:cNvSpPr>
          <p:nvPr/>
        </p:nvSpPr>
        <p:spPr bwMode="auto">
          <a:xfrm>
            <a:off x="5181600" y="1981200"/>
            <a:ext cx="2762250" cy="822325"/>
          </a:xfrm>
          <a:prstGeom prst="rect">
            <a:avLst/>
          </a:prstGeom>
          <a:solidFill>
            <a:srgbClr val="00FFCC"/>
          </a:solidFill>
          <a:ln w="9525">
            <a:noFill/>
            <a:miter lim="800000"/>
            <a:headEnd/>
            <a:tailEnd/>
          </a:ln>
          <a:effectLst>
            <a:outerShdw dist="107763" dir="2700000" algn="ctr" rotWithShape="0">
              <a:schemeClr val="bg2"/>
            </a:outerShdw>
          </a:effectLst>
        </p:spPr>
        <p:txBody>
          <a:bodyPr wrap="none">
            <a:spAutoFit/>
          </a:bodyPr>
          <a:lstStyle/>
          <a:p>
            <a:pPr algn="ctr"/>
            <a:r>
              <a:rPr lang="en-US" sz="2400" b="0">
                <a:latin typeface="Times New Roman" pitchFamily="18" charset="0"/>
              </a:rPr>
              <a:t>Intercluster distances</a:t>
            </a:r>
          </a:p>
          <a:p>
            <a:pPr algn="ctr"/>
            <a:r>
              <a:rPr lang="en-US" sz="2400" b="0">
                <a:latin typeface="Times New Roman" pitchFamily="18" charset="0"/>
              </a:rPr>
              <a:t>are maximized</a:t>
            </a:r>
          </a:p>
        </p:txBody>
      </p:sp>
      <p:grpSp>
        <p:nvGrpSpPr>
          <p:cNvPr id="2" name="Group 6"/>
          <p:cNvGrpSpPr>
            <a:grpSpLocks/>
          </p:cNvGrpSpPr>
          <p:nvPr/>
        </p:nvGrpSpPr>
        <p:grpSpPr bwMode="auto">
          <a:xfrm>
            <a:off x="3276600" y="3200400"/>
            <a:ext cx="3048000" cy="2678113"/>
            <a:chOff x="2160" y="2544"/>
            <a:chExt cx="1920" cy="1687"/>
          </a:xfrm>
        </p:grpSpPr>
        <p:sp>
          <p:nvSpPr>
            <p:cNvPr id="747527" name="Line 7"/>
            <p:cNvSpPr>
              <a:spLocks noChangeShapeType="1"/>
            </p:cNvSpPr>
            <p:nvPr/>
          </p:nvSpPr>
          <p:spPr bwMode="auto">
            <a:xfrm>
              <a:off x="2736" y="2544"/>
              <a:ext cx="0" cy="1152"/>
            </a:xfrm>
            <a:prstGeom prst="line">
              <a:avLst/>
            </a:prstGeom>
            <a:noFill/>
            <a:ln w="9525">
              <a:solidFill>
                <a:schemeClr val="tx1"/>
              </a:solidFill>
              <a:round/>
              <a:headEnd/>
              <a:tailEnd/>
            </a:ln>
            <a:effectLst/>
          </p:spPr>
          <p:txBody>
            <a:bodyPr wrap="none" anchor="ctr"/>
            <a:lstStyle/>
            <a:p>
              <a:endParaRPr lang="id-ID"/>
            </a:p>
          </p:txBody>
        </p:sp>
        <p:sp>
          <p:nvSpPr>
            <p:cNvPr id="747528" name="Line 8"/>
            <p:cNvSpPr>
              <a:spLocks noChangeShapeType="1"/>
            </p:cNvSpPr>
            <p:nvPr/>
          </p:nvSpPr>
          <p:spPr bwMode="auto">
            <a:xfrm>
              <a:off x="2736" y="3696"/>
              <a:ext cx="1344" cy="0"/>
            </a:xfrm>
            <a:prstGeom prst="line">
              <a:avLst/>
            </a:prstGeom>
            <a:noFill/>
            <a:ln w="9525">
              <a:solidFill>
                <a:schemeClr val="tx1"/>
              </a:solidFill>
              <a:round/>
              <a:headEnd/>
              <a:tailEnd/>
            </a:ln>
            <a:effectLst/>
          </p:spPr>
          <p:txBody>
            <a:bodyPr wrap="none" anchor="ctr"/>
            <a:lstStyle/>
            <a:p>
              <a:endParaRPr lang="id-ID"/>
            </a:p>
          </p:txBody>
        </p:sp>
        <p:sp>
          <p:nvSpPr>
            <p:cNvPr id="747529" name="Freeform 9"/>
            <p:cNvSpPr>
              <a:spLocks/>
            </p:cNvSpPr>
            <p:nvPr/>
          </p:nvSpPr>
          <p:spPr bwMode="auto">
            <a:xfrm>
              <a:off x="2226" y="3696"/>
              <a:ext cx="510" cy="535"/>
            </a:xfrm>
            <a:custGeom>
              <a:avLst/>
              <a:gdLst/>
              <a:ahLst/>
              <a:cxnLst>
                <a:cxn ang="0">
                  <a:pos x="510" y="0"/>
                </a:cxn>
                <a:cxn ang="0">
                  <a:pos x="0" y="535"/>
                </a:cxn>
              </a:cxnLst>
              <a:rect l="0" t="0" r="r" b="b"/>
              <a:pathLst>
                <a:path w="510" h="535">
                  <a:moveTo>
                    <a:pt x="510" y="0"/>
                  </a:moveTo>
                  <a:lnTo>
                    <a:pt x="0" y="535"/>
                  </a:lnTo>
                </a:path>
              </a:pathLst>
            </a:custGeom>
            <a:noFill/>
            <a:ln w="9525">
              <a:solidFill>
                <a:schemeClr val="tx1"/>
              </a:solidFill>
              <a:round/>
              <a:headEnd type="none" w="med" len="med"/>
              <a:tailEnd type="none" w="med" len="med"/>
            </a:ln>
            <a:effectLst/>
          </p:spPr>
          <p:txBody>
            <a:bodyPr wrap="none" anchor="ctr"/>
            <a:lstStyle/>
            <a:p>
              <a:endParaRPr lang="id-ID"/>
            </a:p>
          </p:txBody>
        </p:sp>
        <p:sp>
          <p:nvSpPr>
            <p:cNvPr id="747530" name="AutoShape 10"/>
            <p:cNvSpPr>
              <a:spLocks noChangeArrowheads="1"/>
            </p:cNvSpPr>
            <p:nvPr/>
          </p:nvSpPr>
          <p:spPr bwMode="auto">
            <a:xfrm>
              <a:off x="3264" y="2880"/>
              <a:ext cx="96" cy="96"/>
            </a:xfrm>
            <a:prstGeom prst="octagon">
              <a:avLst>
                <a:gd name="adj" fmla="val 29287"/>
              </a:avLst>
            </a:prstGeom>
            <a:solidFill>
              <a:schemeClr val="accent1"/>
            </a:solidFill>
            <a:ln w="9525">
              <a:solidFill>
                <a:schemeClr val="tx1"/>
              </a:solidFill>
              <a:miter lim="800000"/>
              <a:headEnd/>
              <a:tailEnd/>
            </a:ln>
            <a:effectLst/>
          </p:spPr>
          <p:txBody>
            <a:bodyPr wrap="none" anchor="ctr"/>
            <a:lstStyle/>
            <a:p>
              <a:endParaRPr lang="id-ID"/>
            </a:p>
          </p:txBody>
        </p:sp>
        <p:sp>
          <p:nvSpPr>
            <p:cNvPr id="747531" name="AutoShape 11"/>
            <p:cNvSpPr>
              <a:spLocks noChangeArrowheads="1"/>
            </p:cNvSpPr>
            <p:nvPr/>
          </p:nvSpPr>
          <p:spPr bwMode="auto">
            <a:xfrm>
              <a:off x="3408" y="2880"/>
              <a:ext cx="96" cy="96"/>
            </a:xfrm>
            <a:prstGeom prst="octagon">
              <a:avLst>
                <a:gd name="adj" fmla="val 29287"/>
              </a:avLst>
            </a:prstGeom>
            <a:solidFill>
              <a:schemeClr val="accent1"/>
            </a:solidFill>
            <a:ln w="9525">
              <a:solidFill>
                <a:schemeClr val="tx1"/>
              </a:solidFill>
              <a:miter lim="800000"/>
              <a:headEnd/>
              <a:tailEnd/>
            </a:ln>
            <a:effectLst/>
          </p:spPr>
          <p:txBody>
            <a:bodyPr wrap="none" anchor="ctr"/>
            <a:lstStyle/>
            <a:p>
              <a:endParaRPr lang="id-ID"/>
            </a:p>
          </p:txBody>
        </p:sp>
        <p:sp>
          <p:nvSpPr>
            <p:cNvPr id="747532" name="AutoShape 12"/>
            <p:cNvSpPr>
              <a:spLocks noChangeArrowheads="1"/>
            </p:cNvSpPr>
            <p:nvPr/>
          </p:nvSpPr>
          <p:spPr bwMode="auto">
            <a:xfrm>
              <a:off x="3360" y="2736"/>
              <a:ext cx="96" cy="96"/>
            </a:xfrm>
            <a:prstGeom prst="octagon">
              <a:avLst>
                <a:gd name="adj" fmla="val 29287"/>
              </a:avLst>
            </a:prstGeom>
            <a:solidFill>
              <a:schemeClr val="accent1"/>
            </a:solidFill>
            <a:ln w="9525">
              <a:solidFill>
                <a:schemeClr val="tx1"/>
              </a:solidFill>
              <a:miter lim="800000"/>
              <a:headEnd/>
              <a:tailEnd/>
            </a:ln>
            <a:effectLst/>
          </p:spPr>
          <p:txBody>
            <a:bodyPr wrap="none" anchor="ctr"/>
            <a:lstStyle/>
            <a:p>
              <a:endParaRPr lang="id-ID"/>
            </a:p>
          </p:txBody>
        </p:sp>
        <p:sp>
          <p:nvSpPr>
            <p:cNvPr id="747533" name="AutoShape 13"/>
            <p:cNvSpPr>
              <a:spLocks noChangeArrowheads="1"/>
            </p:cNvSpPr>
            <p:nvPr/>
          </p:nvSpPr>
          <p:spPr bwMode="auto">
            <a:xfrm>
              <a:off x="3360" y="3024"/>
              <a:ext cx="96" cy="96"/>
            </a:xfrm>
            <a:prstGeom prst="octagon">
              <a:avLst>
                <a:gd name="adj" fmla="val 29287"/>
              </a:avLst>
            </a:prstGeom>
            <a:solidFill>
              <a:schemeClr val="accent1"/>
            </a:solidFill>
            <a:ln w="9525">
              <a:solidFill>
                <a:schemeClr val="tx1"/>
              </a:solidFill>
              <a:miter lim="800000"/>
              <a:headEnd/>
              <a:tailEnd/>
            </a:ln>
            <a:effectLst/>
          </p:spPr>
          <p:txBody>
            <a:bodyPr wrap="none" anchor="ctr"/>
            <a:lstStyle/>
            <a:p>
              <a:endParaRPr lang="id-ID"/>
            </a:p>
          </p:txBody>
        </p:sp>
        <p:sp>
          <p:nvSpPr>
            <p:cNvPr id="747534" name="AutoShape 14"/>
            <p:cNvSpPr>
              <a:spLocks noChangeArrowheads="1"/>
            </p:cNvSpPr>
            <p:nvPr/>
          </p:nvSpPr>
          <p:spPr bwMode="auto">
            <a:xfrm>
              <a:off x="3600" y="2880"/>
              <a:ext cx="96" cy="96"/>
            </a:xfrm>
            <a:prstGeom prst="octagon">
              <a:avLst>
                <a:gd name="adj" fmla="val 29287"/>
              </a:avLst>
            </a:prstGeom>
            <a:solidFill>
              <a:schemeClr val="accent1"/>
            </a:solidFill>
            <a:ln w="9525">
              <a:solidFill>
                <a:schemeClr val="tx1"/>
              </a:solidFill>
              <a:miter lim="800000"/>
              <a:headEnd/>
              <a:tailEnd/>
            </a:ln>
            <a:effectLst/>
          </p:spPr>
          <p:txBody>
            <a:bodyPr wrap="none" anchor="ctr"/>
            <a:lstStyle/>
            <a:p>
              <a:endParaRPr lang="id-ID"/>
            </a:p>
          </p:txBody>
        </p:sp>
        <p:sp>
          <p:nvSpPr>
            <p:cNvPr id="747535" name="AutoShape 15"/>
            <p:cNvSpPr>
              <a:spLocks noChangeArrowheads="1"/>
            </p:cNvSpPr>
            <p:nvPr/>
          </p:nvSpPr>
          <p:spPr bwMode="auto">
            <a:xfrm>
              <a:off x="3504" y="2784"/>
              <a:ext cx="96" cy="96"/>
            </a:xfrm>
            <a:prstGeom prst="octagon">
              <a:avLst>
                <a:gd name="adj" fmla="val 29287"/>
              </a:avLst>
            </a:prstGeom>
            <a:solidFill>
              <a:schemeClr val="accent1"/>
            </a:solidFill>
            <a:ln w="9525">
              <a:solidFill>
                <a:schemeClr val="tx1"/>
              </a:solidFill>
              <a:miter lim="800000"/>
              <a:headEnd/>
              <a:tailEnd/>
            </a:ln>
            <a:effectLst/>
          </p:spPr>
          <p:txBody>
            <a:bodyPr wrap="none" anchor="ctr"/>
            <a:lstStyle/>
            <a:p>
              <a:endParaRPr lang="id-ID"/>
            </a:p>
          </p:txBody>
        </p:sp>
        <p:sp>
          <p:nvSpPr>
            <p:cNvPr id="747536" name="AutoShape 16"/>
            <p:cNvSpPr>
              <a:spLocks noChangeArrowheads="1"/>
            </p:cNvSpPr>
            <p:nvPr/>
          </p:nvSpPr>
          <p:spPr bwMode="auto">
            <a:xfrm>
              <a:off x="3168" y="2736"/>
              <a:ext cx="96" cy="96"/>
            </a:xfrm>
            <a:prstGeom prst="octagon">
              <a:avLst>
                <a:gd name="adj" fmla="val 29287"/>
              </a:avLst>
            </a:prstGeom>
            <a:solidFill>
              <a:schemeClr val="accent1"/>
            </a:solidFill>
            <a:ln w="9525">
              <a:solidFill>
                <a:schemeClr val="tx1"/>
              </a:solidFill>
              <a:miter lim="800000"/>
              <a:headEnd/>
              <a:tailEnd/>
            </a:ln>
            <a:effectLst/>
          </p:spPr>
          <p:txBody>
            <a:bodyPr wrap="none" anchor="ctr"/>
            <a:lstStyle/>
            <a:p>
              <a:endParaRPr lang="id-ID"/>
            </a:p>
          </p:txBody>
        </p:sp>
        <p:sp>
          <p:nvSpPr>
            <p:cNvPr id="747537" name="AutoShape 17"/>
            <p:cNvSpPr>
              <a:spLocks noChangeArrowheads="1"/>
            </p:cNvSpPr>
            <p:nvPr/>
          </p:nvSpPr>
          <p:spPr bwMode="auto">
            <a:xfrm>
              <a:off x="3504" y="2976"/>
              <a:ext cx="96" cy="96"/>
            </a:xfrm>
            <a:prstGeom prst="octagon">
              <a:avLst>
                <a:gd name="adj" fmla="val 29287"/>
              </a:avLst>
            </a:prstGeom>
            <a:solidFill>
              <a:schemeClr val="accent1"/>
            </a:solidFill>
            <a:ln w="9525">
              <a:solidFill>
                <a:schemeClr val="tx1"/>
              </a:solidFill>
              <a:miter lim="800000"/>
              <a:headEnd/>
              <a:tailEnd/>
            </a:ln>
            <a:effectLst/>
          </p:spPr>
          <p:txBody>
            <a:bodyPr wrap="none" anchor="ctr"/>
            <a:lstStyle/>
            <a:p>
              <a:endParaRPr lang="id-ID"/>
            </a:p>
          </p:txBody>
        </p:sp>
        <p:sp>
          <p:nvSpPr>
            <p:cNvPr id="747538" name="AutoShape 18"/>
            <p:cNvSpPr>
              <a:spLocks noChangeArrowheads="1"/>
            </p:cNvSpPr>
            <p:nvPr/>
          </p:nvSpPr>
          <p:spPr bwMode="auto">
            <a:xfrm>
              <a:off x="3168" y="2976"/>
              <a:ext cx="96" cy="96"/>
            </a:xfrm>
            <a:prstGeom prst="octagon">
              <a:avLst>
                <a:gd name="adj" fmla="val 29287"/>
              </a:avLst>
            </a:prstGeom>
            <a:solidFill>
              <a:schemeClr val="accent1"/>
            </a:solidFill>
            <a:ln w="9525">
              <a:solidFill>
                <a:schemeClr val="tx1"/>
              </a:solidFill>
              <a:miter lim="800000"/>
              <a:headEnd/>
              <a:tailEnd/>
            </a:ln>
            <a:effectLst/>
          </p:spPr>
          <p:txBody>
            <a:bodyPr wrap="none" anchor="ctr"/>
            <a:lstStyle/>
            <a:p>
              <a:endParaRPr lang="id-ID"/>
            </a:p>
          </p:txBody>
        </p:sp>
        <p:sp>
          <p:nvSpPr>
            <p:cNvPr id="747539" name="AutoShape 19"/>
            <p:cNvSpPr>
              <a:spLocks noChangeArrowheads="1"/>
            </p:cNvSpPr>
            <p:nvPr/>
          </p:nvSpPr>
          <p:spPr bwMode="auto">
            <a:xfrm>
              <a:off x="2160" y="3264"/>
              <a:ext cx="96" cy="96"/>
            </a:xfrm>
            <a:prstGeom prst="octagon">
              <a:avLst>
                <a:gd name="adj" fmla="val 29287"/>
              </a:avLst>
            </a:prstGeom>
            <a:solidFill>
              <a:srgbClr val="FF0066"/>
            </a:solidFill>
            <a:ln w="9525">
              <a:solidFill>
                <a:schemeClr val="tx1"/>
              </a:solidFill>
              <a:miter lim="800000"/>
              <a:headEnd/>
              <a:tailEnd/>
            </a:ln>
            <a:effectLst/>
          </p:spPr>
          <p:txBody>
            <a:bodyPr wrap="none" anchor="ctr"/>
            <a:lstStyle/>
            <a:p>
              <a:endParaRPr lang="id-ID"/>
            </a:p>
          </p:txBody>
        </p:sp>
        <p:sp>
          <p:nvSpPr>
            <p:cNvPr id="747540" name="AutoShape 20"/>
            <p:cNvSpPr>
              <a:spLocks noChangeArrowheads="1"/>
            </p:cNvSpPr>
            <p:nvPr/>
          </p:nvSpPr>
          <p:spPr bwMode="auto">
            <a:xfrm>
              <a:off x="2304" y="3312"/>
              <a:ext cx="96" cy="96"/>
            </a:xfrm>
            <a:prstGeom prst="octagon">
              <a:avLst>
                <a:gd name="adj" fmla="val 29287"/>
              </a:avLst>
            </a:prstGeom>
            <a:solidFill>
              <a:srgbClr val="FF0066"/>
            </a:solidFill>
            <a:ln w="9525">
              <a:solidFill>
                <a:schemeClr val="tx1"/>
              </a:solidFill>
              <a:miter lim="800000"/>
              <a:headEnd/>
              <a:tailEnd/>
            </a:ln>
            <a:effectLst/>
          </p:spPr>
          <p:txBody>
            <a:bodyPr wrap="none" anchor="ctr"/>
            <a:lstStyle/>
            <a:p>
              <a:endParaRPr lang="id-ID"/>
            </a:p>
          </p:txBody>
        </p:sp>
        <p:sp>
          <p:nvSpPr>
            <p:cNvPr id="747541" name="AutoShape 21"/>
            <p:cNvSpPr>
              <a:spLocks noChangeArrowheads="1"/>
            </p:cNvSpPr>
            <p:nvPr/>
          </p:nvSpPr>
          <p:spPr bwMode="auto">
            <a:xfrm>
              <a:off x="2304" y="3456"/>
              <a:ext cx="96" cy="96"/>
            </a:xfrm>
            <a:prstGeom prst="octagon">
              <a:avLst>
                <a:gd name="adj" fmla="val 29287"/>
              </a:avLst>
            </a:prstGeom>
            <a:solidFill>
              <a:srgbClr val="FF0066"/>
            </a:solidFill>
            <a:ln w="9525">
              <a:solidFill>
                <a:schemeClr val="tx1"/>
              </a:solidFill>
              <a:miter lim="800000"/>
              <a:headEnd/>
              <a:tailEnd/>
            </a:ln>
            <a:effectLst/>
          </p:spPr>
          <p:txBody>
            <a:bodyPr wrap="none" anchor="ctr"/>
            <a:lstStyle/>
            <a:p>
              <a:endParaRPr lang="id-ID"/>
            </a:p>
          </p:txBody>
        </p:sp>
        <p:sp>
          <p:nvSpPr>
            <p:cNvPr id="747542" name="AutoShape 22"/>
            <p:cNvSpPr>
              <a:spLocks noChangeArrowheads="1"/>
            </p:cNvSpPr>
            <p:nvPr/>
          </p:nvSpPr>
          <p:spPr bwMode="auto">
            <a:xfrm>
              <a:off x="2448" y="3312"/>
              <a:ext cx="96" cy="96"/>
            </a:xfrm>
            <a:prstGeom prst="octagon">
              <a:avLst>
                <a:gd name="adj" fmla="val 29287"/>
              </a:avLst>
            </a:prstGeom>
            <a:solidFill>
              <a:srgbClr val="FF0066"/>
            </a:solidFill>
            <a:ln w="9525">
              <a:solidFill>
                <a:schemeClr val="tx1"/>
              </a:solidFill>
              <a:miter lim="800000"/>
              <a:headEnd/>
              <a:tailEnd/>
            </a:ln>
            <a:effectLst/>
          </p:spPr>
          <p:txBody>
            <a:bodyPr wrap="none" anchor="ctr"/>
            <a:lstStyle/>
            <a:p>
              <a:endParaRPr lang="id-ID"/>
            </a:p>
          </p:txBody>
        </p:sp>
        <p:sp>
          <p:nvSpPr>
            <p:cNvPr id="747543" name="AutoShape 23"/>
            <p:cNvSpPr>
              <a:spLocks noChangeArrowheads="1"/>
            </p:cNvSpPr>
            <p:nvPr/>
          </p:nvSpPr>
          <p:spPr bwMode="auto">
            <a:xfrm>
              <a:off x="2352" y="3168"/>
              <a:ext cx="96" cy="96"/>
            </a:xfrm>
            <a:prstGeom prst="octagon">
              <a:avLst>
                <a:gd name="adj" fmla="val 29287"/>
              </a:avLst>
            </a:prstGeom>
            <a:solidFill>
              <a:srgbClr val="FF0066"/>
            </a:solidFill>
            <a:ln w="9525">
              <a:solidFill>
                <a:schemeClr val="tx1"/>
              </a:solidFill>
              <a:miter lim="800000"/>
              <a:headEnd/>
              <a:tailEnd/>
            </a:ln>
            <a:effectLst/>
          </p:spPr>
          <p:txBody>
            <a:bodyPr wrap="none" anchor="ctr"/>
            <a:lstStyle/>
            <a:p>
              <a:endParaRPr lang="id-ID"/>
            </a:p>
          </p:txBody>
        </p:sp>
        <p:sp>
          <p:nvSpPr>
            <p:cNvPr id="747544" name="AutoShape 24"/>
            <p:cNvSpPr>
              <a:spLocks noChangeArrowheads="1"/>
            </p:cNvSpPr>
            <p:nvPr/>
          </p:nvSpPr>
          <p:spPr bwMode="auto">
            <a:xfrm>
              <a:off x="2448" y="3456"/>
              <a:ext cx="96" cy="96"/>
            </a:xfrm>
            <a:prstGeom prst="octagon">
              <a:avLst>
                <a:gd name="adj" fmla="val 29287"/>
              </a:avLst>
            </a:prstGeom>
            <a:solidFill>
              <a:srgbClr val="FF0066"/>
            </a:solidFill>
            <a:ln w="9525">
              <a:solidFill>
                <a:schemeClr val="tx1"/>
              </a:solidFill>
              <a:miter lim="800000"/>
              <a:headEnd/>
              <a:tailEnd/>
            </a:ln>
            <a:effectLst/>
          </p:spPr>
          <p:txBody>
            <a:bodyPr wrap="none" anchor="ctr"/>
            <a:lstStyle/>
            <a:p>
              <a:endParaRPr lang="id-ID"/>
            </a:p>
          </p:txBody>
        </p:sp>
        <p:sp>
          <p:nvSpPr>
            <p:cNvPr id="747545" name="AutoShape 25"/>
            <p:cNvSpPr>
              <a:spLocks noChangeArrowheads="1"/>
            </p:cNvSpPr>
            <p:nvPr/>
          </p:nvSpPr>
          <p:spPr bwMode="auto">
            <a:xfrm>
              <a:off x="2160" y="3408"/>
              <a:ext cx="96" cy="96"/>
            </a:xfrm>
            <a:prstGeom prst="octagon">
              <a:avLst>
                <a:gd name="adj" fmla="val 29287"/>
              </a:avLst>
            </a:prstGeom>
            <a:solidFill>
              <a:srgbClr val="FF0066"/>
            </a:solidFill>
            <a:ln w="9525">
              <a:solidFill>
                <a:schemeClr val="tx1"/>
              </a:solidFill>
              <a:miter lim="800000"/>
              <a:headEnd/>
              <a:tailEnd/>
            </a:ln>
            <a:effectLst/>
          </p:spPr>
          <p:txBody>
            <a:bodyPr wrap="none" anchor="ctr"/>
            <a:lstStyle/>
            <a:p>
              <a:endParaRPr lang="id-ID"/>
            </a:p>
          </p:txBody>
        </p:sp>
        <p:sp>
          <p:nvSpPr>
            <p:cNvPr id="747546" name="AutoShape 26"/>
            <p:cNvSpPr>
              <a:spLocks noChangeArrowheads="1"/>
            </p:cNvSpPr>
            <p:nvPr/>
          </p:nvSpPr>
          <p:spPr bwMode="auto">
            <a:xfrm>
              <a:off x="3504" y="3552"/>
              <a:ext cx="96" cy="96"/>
            </a:xfrm>
            <a:prstGeom prst="octagon">
              <a:avLst>
                <a:gd name="adj" fmla="val 29287"/>
              </a:avLst>
            </a:prstGeom>
            <a:solidFill>
              <a:schemeClr val="accent2"/>
            </a:solidFill>
            <a:ln w="9525">
              <a:solidFill>
                <a:schemeClr val="tx1"/>
              </a:solidFill>
              <a:miter lim="800000"/>
              <a:headEnd/>
              <a:tailEnd/>
            </a:ln>
            <a:effectLst/>
          </p:spPr>
          <p:txBody>
            <a:bodyPr wrap="none" anchor="ctr"/>
            <a:lstStyle/>
            <a:p>
              <a:endParaRPr lang="id-ID"/>
            </a:p>
          </p:txBody>
        </p:sp>
        <p:sp>
          <p:nvSpPr>
            <p:cNvPr id="747547" name="AutoShape 27"/>
            <p:cNvSpPr>
              <a:spLocks noChangeArrowheads="1"/>
            </p:cNvSpPr>
            <p:nvPr/>
          </p:nvSpPr>
          <p:spPr bwMode="auto">
            <a:xfrm>
              <a:off x="3792" y="3600"/>
              <a:ext cx="96" cy="96"/>
            </a:xfrm>
            <a:prstGeom prst="octagon">
              <a:avLst>
                <a:gd name="adj" fmla="val 29287"/>
              </a:avLst>
            </a:prstGeom>
            <a:solidFill>
              <a:schemeClr val="accent2"/>
            </a:solidFill>
            <a:ln w="9525">
              <a:solidFill>
                <a:schemeClr val="tx1"/>
              </a:solidFill>
              <a:miter lim="800000"/>
              <a:headEnd/>
              <a:tailEnd/>
            </a:ln>
            <a:effectLst/>
          </p:spPr>
          <p:txBody>
            <a:bodyPr wrap="none" anchor="ctr"/>
            <a:lstStyle/>
            <a:p>
              <a:endParaRPr lang="id-ID"/>
            </a:p>
          </p:txBody>
        </p:sp>
        <p:sp>
          <p:nvSpPr>
            <p:cNvPr id="747548" name="AutoShape 28"/>
            <p:cNvSpPr>
              <a:spLocks noChangeArrowheads="1"/>
            </p:cNvSpPr>
            <p:nvPr/>
          </p:nvSpPr>
          <p:spPr bwMode="auto">
            <a:xfrm>
              <a:off x="3648" y="3696"/>
              <a:ext cx="96" cy="96"/>
            </a:xfrm>
            <a:prstGeom prst="octagon">
              <a:avLst>
                <a:gd name="adj" fmla="val 29287"/>
              </a:avLst>
            </a:prstGeom>
            <a:solidFill>
              <a:schemeClr val="accent2"/>
            </a:solidFill>
            <a:ln w="9525">
              <a:solidFill>
                <a:schemeClr val="tx1"/>
              </a:solidFill>
              <a:miter lim="800000"/>
              <a:headEnd/>
              <a:tailEnd/>
            </a:ln>
            <a:effectLst/>
          </p:spPr>
          <p:txBody>
            <a:bodyPr wrap="none" anchor="ctr"/>
            <a:lstStyle/>
            <a:p>
              <a:endParaRPr lang="id-ID"/>
            </a:p>
          </p:txBody>
        </p:sp>
        <p:sp>
          <p:nvSpPr>
            <p:cNvPr id="747549" name="AutoShape 29"/>
            <p:cNvSpPr>
              <a:spLocks noChangeArrowheads="1"/>
            </p:cNvSpPr>
            <p:nvPr/>
          </p:nvSpPr>
          <p:spPr bwMode="auto">
            <a:xfrm>
              <a:off x="3504" y="3792"/>
              <a:ext cx="96" cy="96"/>
            </a:xfrm>
            <a:prstGeom prst="octagon">
              <a:avLst>
                <a:gd name="adj" fmla="val 29287"/>
              </a:avLst>
            </a:prstGeom>
            <a:solidFill>
              <a:schemeClr val="accent2"/>
            </a:solidFill>
            <a:ln w="9525">
              <a:solidFill>
                <a:schemeClr val="tx1"/>
              </a:solidFill>
              <a:miter lim="800000"/>
              <a:headEnd/>
              <a:tailEnd/>
            </a:ln>
            <a:effectLst/>
          </p:spPr>
          <p:txBody>
            <a:bodyPr wrap="none" anchor="ctr"/>
            <a:lstStyle/>
            <a:p>
              <a:endParaRPr lang="id-ID"/>
            </a:p>
          </p:txBody>
        </p:sp>
        <p:sp>
          <p:nvSpPr>
            <p:cNvPr id="747550" name="AutoShape 30"/>
            <p:cNvSpPr>
              <a:spLocks noChangeArrowheads="1"/>
            </p:cNvSpPr>
            <p:nvPr/>
          </p:nvSpPr>
          <p:spPr bwMode="auto">
            <a:xfrm>
              <a:off x="3696" y="3792"/>
              <a:ext cx="96" cy="96"/>
            </a:xfrm>
            <a:prstGeom prst="octagon">
              <a:avLst>
                <a:gd name="adj" fmla="val 29287"/>
              </a:avLst>
            </a:prstGeom>
            <a:solidFill>
              <a:schemeClr val="accent2"/>
            </a:solidFill>
            <a:ln w="9525">
              <a:solidFill>
                <a:schemeClr val="tx1"/>
              </a:solidFill>
              <a:miter lim="800000"/>
              <a:headEnd/>
              <a:tailEnd/>
            </a:ln>
            <a:effectLst/>
          </p:spPr>
          <p:txBody>
            <a:bodyPr wrap="none" anchor="ctr"/>
            <a:lstStyle/>
            <a:p>
              <a:endParaRPr lang="id-ID"/>
            </a:p>
          </p:txBody>
        </p:sp>
        <p:sp>
          <p:nvSpPr>
            <p:cNvPr id="747551" name="AutoShape 31"/>
            <p:cNvSpPr>
              <a:spLocks noChangeArrowheads="1"/>
            </p:cNvSpPr>
            <p:nvPr/>
          </p:nvSpPr>
          <p:spPr bwMode="auto">
            <a:xfrm flipV="1">
              <a:off x="3504" y="3648"/>
              <a:ext cx="96" cy="96"/>
            </a:xfrm>
            <a:prstGeom prst="octagon">
              <a:avLst>
                <a:gd name="adj" fmla="val 29287"/>
              </a:avLst>
            </a:prstGeom>
            <a:solidFill>
              <a:schemeClr val="accent2"/>
            </a:solidFill>
            <a:ln w="9525">
              <a:solidFill>
                <a:schemeClr val="tx1"/>
              </a:solidFill>
              <a:miter lim="800000"/>
              <a:headEnd/>
              <a:tailEnd/>
            </a:ln>
            <a:effectLst/>
          </p:spPr>
          <p:txBody>
            <a:bodyPr wrap="none" anchor="ctr"/>
            <a:lstStyle/>
            <a:p>
              <a:endParaRPr lang="id-ID"/>
            </a:p>
          </p:txBody>
        </p:sp>
        <p:sp>
          <p:nvSpPr>
            <p:cNvPr id="747552" name="AutoShape 32"/>
            <p:cNvSpPr>
              <a:spLocks noChangeArrowheads="1"/>
            </p:cNvSpPr>
            <p:nvPr/>
          </p:nvSpPr>
          <p:spPr bwMode="auto">
            <a:xfrm>
              <a:off x="3696" y="3504"/>
              <a:ext cx="96" cy="96"/>
            </a:xfrm>
            <a:prstGeom prst="octagon">
              <a:avLst>
                <a:gd name="adj" fmla="val 29287"/>
              </a:avLst>
            </a:prstGeom>
            <a:solidFill>
              <a:schemeClr val="accent2"/>
            </a:solidFill>
            <a:ln w="9525">
              <a:solidFill>
                <a:schemeClr val="tx1"/>
              </a:solidFill>
              <a:miter lim="800000"/>
              <a:headEnd/>
              <a:tailEnd/>
            </a:ln>
            <a:effectLst/>
          </p:spPr>
          <p:txBody>
            <a:bodyPr wrap="none" anchor="ctr"/>
            <a:lstStyle/>
            <a:p>
              <a:endParaRPr lang="id-ID"/>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4690" name="Rectangle 2"/>
          <p:cNvSpPr>
            <a:spLocks noGrp="1" noChangeArrowheads="1"/>
          </p:cNvSpPr>
          <p:nvPr>
            <p:ph type="title"/>
          </p:nvPr>
        </p:nvSpPr>
        <p:spPr/>
        <p:txBody>
          <a:bodyPr>
            <a:normAutofit fontScale="90000"/>
          </a:bodyPr>
          <a:lstStyle/>
          <a:p>
            <a:r>
              <a:rPr lang="en-US"/>
              <a:t>Association Rule Discovery: Definition</a:t>
            </a:r>
          </a:p>
        </p:txBody>
      </p:sp>
      <p:sp>
        <p:nvSpPr>
          <p:cNvPr id="754691" name="Rectangle 3"/>
          <p:cNvSpPr>
            <a:spLocks noGrp="1" noChangeArrowheads="1"/>
          </p:cNvSpPr>
          <p:nvPr>
            <p:ph idx="1"/>
          </p:nvPr>
        </p:nvSpPr>
        <p:spPr/>
        <p:txBody>
          <a:bodyPr/>
          <a:lstStyle/>
          <a:p>
            <a:r>
              <a:rPr lang="en-US" sz="2400"/>
              <a:t>Given a set of records each of which contain some number of items from a given collection;</a:t>
            </a:r>
          </a:p>
          <a:p>
            <a:pPr lvl="1"/>
            <a:r>
              <a:rPr lang="en-US" sz="2400"/>
              <a:t>Produce dependency rules which will predict occurrence of an item based on occurrences of other items.</a:t>
            </a:r>
            <a:endParaRPr lang="en-US"/>
          </a:p>
        </p:txBody>
      </p:sp>
      <p:graphicFrame>
        <p:nvGraphicFramePr>
          <p:cNvPr id="754692" name="Object 4"/>
          <p:cNvGraphicFramePr>
            <a:graphicFrameLocks noChangeAspect="1"/>
          </p:cNvGraphicFramePr>
          <p:nvPr/>
        </p:nvGraphicFramePr>
        <p:xfrm>
          <a:off x="381000" y="3333750"/>
          <a:ext cx="4181475" cy="2152650"/>
        </p:xfrm>
        <a:graphic>
          <a:graphicData uri="http://schemas.openxmlformats.org/presentationml/2006/ole">
            <mc:AlternateContent xmlns:mc="http://schemas.openxmlformats.org/markup-compatibility/2006">
              <mc:Choice xmlns:v="urn:schemas-microsoft-com:vml" Requires="v">
                <p:oleObj spid="_x0000_s28675" name="Document" r:id="rId3" imgW="3823200" imgH="1999080" progId="Word.Document.8">
                  <p:embed/>
                </p:oleObj>
              </mc:Choice>
              <mc:Fallback>
                <p:oleObj name="Document" r:id="rId3" imgW="3823200" imgH="1999080" progId="Word.Document.8">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3333750"/>
                        <a:ext cx="4181475" cy="2152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54693" name="Text Box 5"/>
          <p:cNvSpPr txBox="1">
            <a:spLocks noChangeArrowheads="1"/>
          </p:cNvSpPr>
          <p:nvPr/>
        </p:nvSpPr>
        <p:spPr bwMode="auto">
          <a:xfrm>
            <a:off x="4876800" y="3714750"/>
            <a:ext cx="3443288" cy="976313"/>
          </a:xfrm>
          <a:prstGeom prst="rect">
            <a:avLst/>
          </a:prstGeom>
          <a:solidFill>
            <a:srgbClr val="CCCCFF"/>
          </a:solidFill>
          <a:ln w="9525">
            <a:noFill/>
            <a:miter lim="800000"/>
            <a:headEnd/>
            <a:tailEnd/>
          </a:ln>
          <a:effectLst>
            <a:outerShdw dist="107763" dir="2700000" algn="ctr" rotWithShape="0">
              <a:schemeClr val="bg2"/>
            </a:outerShdw>
          </a:effectLst>
        </p:spPr>
        <p:txBody>
          <a:bodyPr wrap="none">
            <a:spAutoFit/>
          </a:bodyPr>
          <a:lstStyle/>
          <a:p>
            <a:r>
              <a:rPr lang="en-US" sz="2000" b="0">
                <a:latin typeface="Times New Roman" pitchFamily="18" charset="0"/>
              </a:rPr>
              <a:t>Rules Discovered:</a:t>
            </a:r>
          </a:p>
          <a:p>
            <a:r>
              <a:rPr lang="en-US" sz="2000" b="0">
                <a:latin typeface="Times New Roman" pitchFamily="18" charset="0"/>
              </a:rPr>
              <a:t>    </a:t>
            </a:r>
            <a:r>
              <a:rPr lang="en-US" sz="1800">
                <a:solidFill>
                  <a:srgbClr val="CC0000"/>
                </a:solidFill>
                <a:latin typeface="Tahoma" pitchFamily="34" charset="0"/>
              </a:rPr>
              <a:t>{Milk} --&gt; {Coke}</a:t>
            </a:r>
          </a:p>
          <a:p>
            <a:r>
              <a:rPr lang="en-US" sz="1800">
                <a:solidFill>
                  <a:srgbClr val="CC0000"/>
                </a:solidFill>
                <a:latin typeface="Tahoma" pitchFamily="34" charset="0"/>
              </a:rPr>
              <a:t>    {Diaper, Milk} --&gt; {Beer}</a:t>
            </a:r>
            <a:endParaRPr lang="en-US" sz="2400" b="0">
              <a:latin typeface="Times New Roman"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1858" name="Rectangle 2"/>
          <p:cNvSpPr>
            <a:spLocks noGrp="1" noChangeArrowheads="1"/>
          </p:cNvSpPr>
          <p:nvPr>
            <p:ph type="title"/>
          </p:nvPr>
        </p:nvSpPr>
        <p:spPr>
          <a:xfrm>
            <a:off x="381000" y="152400"/>
            <a:ext cx="8763000" cy="533400"/>
          </a:xfrm>
        </p:spPr>
        <p:txBody>
          <a:bodyPr>
            <a:normAutofit fontScale="90000"/>
          </a:bodyPr>
          <a:lstStyle/>
          <a:p>
            <a:r>
              <a:rPr lang="en-US" dirty="0"/>
              <a:t>Sequential Pattern Discovery: Definition</a:t>
            </a:r>
          </a:p>
        </p:txBody>
      </p:sp>
      <p:sp>
        <p:nvSpPr>
          <p:cNvPr id="761859" name="Rectangle 3"/>
          <p:cNvSpPr>
            <a:spLocks noGrp="1" noChangeArrowheads="1"/>
          </p:cNvSpPr>
          <p:nvPr>
            <p:ph idx="1"/>
          </p:nvPr>
        </p:nvSpPr>
        <p:spPr>
          <a:xfrm>
            <a:off x="228600" y="1295400"/>
            <a:ext cx="8382000" cy="1143000"/>
          </a:xfrm>
        </p:spPr>
        <p:txBody>
          <a:bodyPr>
            <a:noAutofit/>
          </a:bodyPr>
          <a:lstStyle/>
          <a:p>
            <a:pPr marL="342900" indent="-342900">
              <a:lnSpc>
                <a:spcPct val="90000"/>
              </a:lnSpc>
            </a:pPr>
            <a:r>
              <a:rPr lang="en-US" sz="2000" dirty="0"/>
              <a:t>Given is a set of </a:t>
            </a:r>
            <a:r>
              <a:rPr lang="en-US" sz="2000" i="1" dirty="0"/>
              <a:t>objects</a:t>
            </a:r>
            <a:r>
              <a:rPr lang="en-US" sz="2000" dirty="0"/>
              <a:t>, with each object associated with its own </a:t>
            </a:r>
            <a:r>
              <a:rPr lang="en-US" sz="2000" i="1" dirty="0"/>
              <a:t>timeline of events</a:t>
            </a:r>
            <a:r>
              <a:rPr lang="en-US" sz="2000" dirty="0"/>
              <a:t>, find rules that predict strong </a:t>
            </a:r>
            <a:r>
              <a:rPr lang="en-US" sz="2000" dirty="0">
                <a:solidFill>
                  <a:srgbClr val="0000FF"/>
                </a:solidFill>
              </a:rPr>
              <a:t>sequential dependencies</a:t>
            </a:r>
            <a:r>
              <a:rPr lang="en-US" sz="2000" dirty="0"/>
              <a:t> among different events.</a:t>
            </a:r>
            <a:endParaRPr lang="id-ID" sz="2000" dirty="0"/>
          </a:p>
          <a:p>
            <a:pPr marL="342900" indent="-342900">
              <a:lnSpc>
                <a:spcPct val="90000"/>
              </a:lnSpc>
            </a:pPr>
            <a:r>
              <a:rPr lang="en-US" sz="2000" dirty="0"/>
              <a:t>Rules are formed by first </a:t>
            </a:r>
            <a:r>
              <a:rPr lang="en-US" sz="2000" dirty="0" err="1"/>
              <a:t>disovering</a:t>
            </a:r>
            <a:r>
              <a:rPr lang="en-US" sz="2000" dirty="0"/>
              <a:t> patterns. Event occurrences in the patterns are governed by timing constraints.</a:t>
            </a:r>
            <a:endParaRPr lang="en-US" sz="2400" dirty="0"/>
          </a:p>
        </p:txBody>
      </p:sp>
      <p:grpSp>
        <p:nvGrpSpPr>
          <p:cNvPr id="2" name="Group 4"/>
          <p:cNvGrpSpPr>
            <a:grpSpLocks/>
          </p:cNvGrpSpPr>
          <p:nvPr/>
        </p:nvGrpSpPr>
        <p:grpSpPr bwMode="auto">
          <a:xfrm>
            <a:off x="2667000" y="4114800"/>
            <a:ext cx="3657600" cy="1752600"/>
            <a:chOff x="1728" y="2928"/>
            <a:chExt cx="2304" cy="1104"/>
          </a:xfrm>
        </p:grpSpPr>
        <p:sp>
          <p:nvSpPr>
            <p:cNvPr id="761861" name="Rectangle 5"/>
            <p:cNvSpPr>
              <a:spLocks noChangeArrowheads="1"/>
            </p:cNvSpPr>
            <p:nvPr/>
          </p:nvSpPr>
          <p:spPr bwMode="auto">
            <a:xfrm>
              <a:off x="1728" y="2928"/>
              <a:ext cx="2304" cy="1104"/>
            </a:xfrm>
            <a:prstGeom prst="rect">
              <a:avLst/>
            </a:prstGeom>
            <a:solidFill>
              <a:srgbClr val="FFFFCC"/>
            </a:solidFill>
            <a:ln w="9525">
              <a:solidFill>
                <a:srgbClr val="000000"/>
              </a:solidFill>
              <a:miter lim="800000"/>
              <a:headEnd/>
              <a:tailEnd/>
            </a:ln>
            <a:effectLst>
              <a:outerShdw dist="107763" dir="2700000" algn="ctr" rotWithShape="0">
                <a:srgbClr val="808080"/>
              </a:outerShdw>
            </a:effectLst>
          </p:spPr>
          <p:txBody>
            <a:bodyPr wrap="none" anchor="ctr"/>
            <a:lstStyle/>
            <a:p>
              <a:endParaRPr lang="id-ID">
                <a:solidFill>
                  <a:srgbClr val="000000"/>
                </a:solidFill>
              </a:endParaRPr>
            </a:p>
          </p:txBody>
        </p:sp>
        <p:sp>
          <p:nvSpPr>
            <p:cNvPr id="761862" name="Text Box 6"/>
            <p:cNvSpPr txBox="1">
              <a:spLocks noChangeArrowheads="1"/>
            </p:cNvSpPr>
            <p:nvPr/>
          </p:nvSpPr>
          <p:spPr bwMode="auto">
            <a:xfrm>
              <a:off x="1776" y="2983"/>
              <a:ext cx="2190" cy="327"/>
            </a:xfrm>
            <a:prstGeom prst="rect">
              <a:avLst/>
            </a:prstGeom>
            <a:solidFill>
              <a:srgbClr val="FFFFCC"/>
            </a:solidFill>
            <a:ln w="9525">
              <a:solidFill>
                <a:srgbClr val="000000"/>
              </a:solidFill>
              <a:miter lim="800000"/>
              <a:headEnd/>
              <a:tailEnd/>
            </a:ln>
            <a:effectLst/>
          </p:spPr>
          <p:txBody>
            <a:bodyPr wrap="none">
              <a:spAutoFit/>
            </a:bodyPr>
            <a:lstStyle/>
            <a:p>
              <a:r>
                <a:rPr lang="en-US" sz="2800">
                  <a:solidFill>
                    <a:srgbClr val="000000"/>
                  </a:solidFill>
                  <a:latin typeface="Times New Roman" pitchFamily="18" charset="0"/>
                </a:rPr>
                <a:t>(A   B)     (C)    (D   E)</a:t>
              </a:r>
            </a:p>
          </p:txBody>
        </p:sp>
        <p:sp>
          <p:nvSpPr>
            <p:cNvPr id="761863" name="Text Box 7"/>
            <p:cNvSpPr txBox="1">
              <a:spLocks noChangeArrowheads="1"/>
            </p:cNvSpPr>
            <p:nvPr/>
          </p:nvSpPr>
          <p:spPr bwMode="auto">
            <a:xfrm>
              <a:off x="2688" y="3660"/>
              <a:ext cx="439" cy="192"/>
            </a:xfrm>
            <a:prstGeom prst="rect">
              <a:avLst/>
            </a:prstGeom>
            <a:solidFill>
              <a:srgbClr val="FFFFCC"/>
            </a:solidFill>
            <a:ln w="9525">
              <a:solidFill>
                <a:srgbClr val="000000"/>
              </a:solidFill>
              <a:miter lim="800000"/>
              <a:headEnd/>
              <a:tailEnd/>
            </a:ln>
            <a:effectLst/>
          </p:spPr>
          <p:txBody>
            <a:bodyPr wrap="none">
              <a:spAutoFit/>
            </a:bodyPr>
            <a:lstStyle/>
            <a:p>
              <a:r>
                <a:rPr lang="en-US">
                  <a:solidFill>
                    <a:srgbClr val="000000"/>
                  </a:solidFill>
                </a:rPr>
                <a:t>&lt;= ms</a:t>
              </a:r>
              <a:endParaRPr lang="en-US" sz="1600">
                <a:solidFill>
                  <a:srgbClr val="000000"/>
                </a:solidFill>
                <a:latin typeface="Times New Roman" pitchFamily="18" charset="0"/>
              </a:endParaRPr>
            </a:p>
          </p:txBody>
        </p:sp>
        <p:sp>
          <p:nvSpPr>
            <p:cNvPr id="761864" name="Text Box 8"/>
            <p:cNvSpPr txBox="1">
              <a:spLocks noChangeArrowheads="1"/>
            </p:cNvSpPr>
            <p:nvPr/>
          </p:nvSpPr>
          <p:spPr bwMode="auto">
            <a:xfrm>
              <a:off x="2256" y="3312"/>
              <a:ext cx="407" cy="192"/>
            </a:xfrm>
            <a:prstGeom prst="rect">
              <a:avLst/>
            </a:prstGeom>
            <a:solidFill>
              <a:srgbClr val="FFFFCC"/>
            </a:solidFill>
            <a:ln w="9525">
              <a:solidFill>
                <a:srgbClr val="000000"/>
              </a:solidFill>
              <a:miter lim="800000"/>
              <a:headEnd/>
              <a:tailEnd/>
            </a:ln>
            <a:effectLst/>
          </p:spPr>
          <p:txBody>
            <a:bodyPr wrap="none">
              <a:spAutoFit/>
            </a:bodyPr>
            <a:lstStyle/>
            <a:p>
              <a:r>
                <a:rPr lang="en-US">
                  <a:solidFill>
                    <a:srgbClr val="000000"/>
                  </a:solidFill>
                </a:rPr>
                <a:t>&lt;= xg</a:t>
              </a:r>
              <a:endParaRPr lang="en-US" sz="1600">
                <a:solidFill>
                  <a:srgbClr val="000000"/>
                </a:solidFill>
                <a:latin typeface="Times New Roman" pitchFamily="18" charset="0"/>
              </a:endParaRPr>
            </a:p>
          </p:txBody>
        </p:sp>
        <p:sp>
          <p:nvSpPr>
            <p:cNvPr id="761865" name="Text Box 9"/>
            <p:cNvSpPr txBox="1">
              <a:spLocks noChangeArrowheads="1"/>
            </p:cNvSpPr>
            <p:nvPr/>
          </p:nvSpPr>
          <p:spPr bwMode="auto">
            <a:xfrm>
              <a:off x="2976" y="3324"/>
              <a:ext cx="348" cy="192"/>
            </a:xfrm>
            <a:prstGeom prst="rect">
              <a:avLst/>
            </a:prstGeom>
            <a:solidFill>
              <a:srgbClr val="FFFFCC"/>
            </a:solidFill>
            <a:ln w="9525">
              <a:solidFill>
                <a:srgbClr val="000000"/>
              </a:solidFill>
              <a:miter lim="800000"/>
              <a:headEnd/>
              <a:tailEnd/>
            </a:ln>
            <a:effectLst/>
          </p:spPr>
          <p:txBody>
            <a:bodyPr wrap="none">
              <a:spAutoFit/>
            </a:bodyPr>
            <a:lstStyle/>
            <a:p>
              <a:r>
                <a:rPr lang="en-US">
                  <a:solidFill>
                    <a:srgbClr val="000000"/>
                  </a:solidFill>
                </a:rPr>
                <a:t> &gt;ng</a:t>
              </a:r>
              <a:endParaRPr lang="en-US" sz="1600">
                <a:solidFill>
                  <a:srgbClr val="000000"/>
                </a:solidFill>
                <a:latin typeface="Times New Roman" pitchFamily="18" charset="0"/>
              </a:endParaRPr>
            </a:p>
          </p:txBody>
        </p:sp>
        <p:sp>
          <p:nvSpPr>
            <p:cNvPr id="761866" name="Text Box 10"/>
            <p:cNvSpPr txBox="1">
              <a:spLocks noChangeArrowheads="1"/>
            </p:cNvSpPr>
            <p:nvPr/>
          </p:nvSpPr>
          <p:spPr bwMode="auto">
            <a:xfrm>
              <a:off x="3360" y="3324"/>
              <a:ext cx="426" cy="192"/>
            </a:xfrm>
            <a:prstGeom prst="rect">
              <a:avLst/>
            </a:prstGeom>
            <a:solidFill>
              <a:srgbClr val="FFFFCC"/>
            </a:solidFill>
            <a:ln w="9525">
              <a:solidFill>
                <a:srgbClr val="000000"/>
              </a:solidFill>
              <a:miter lim="800000"/>
              <a:headEnd/>
              <a:tailEnd/>
            </a:ln>
            <a:effectLst/>
          </p:spPr>
          <p:txBody>
            <a:bodyPr wrap="none">
              <a:spAutoFit/>
            </a:bodyPr>
            <a:lstStyle/>
            <a:p>
              <a:r>
                <a:rPr lang="en-US">
                  <a:solidFill>
                    <a:srgbClr val="000000"/>
                  </a:solidFill>
                </a:rPr>
                <a:t>&lt;= ws</a:t>
              </a:r>
              <a:endParaRPr lang="en-US" sz="1600">
                <a:solidFill>
                  <a:srgbClr val="000000"/>
                </a:solidFill>
                <a:latin typeface="Times New Roman" pitchFamily="18" charset="0"/>
              </a:endParaRPr>
            </a:p>
          </p:txBody>
        </p:sp>
        <p:sp>
          <p:nvSpPr>
            <p:cNvPr id="761867" name="Line 11"/>
            <p:cNvSpPr>
              <a:spLocks noChangeShapeType="1"/>
            </p:cNvSpPr>
            <p:nvPr/>
          </p:nvSpPr>
          <p:spPr bwMode="auto">
            <a:xfrm>
              <a:off x="1824" y="3817"/>
              <a:ext cx="2064" cy="0"/>
            </a:xfrm>
            <a:prstGeom prst="line">
              <a:avLst/>
            </a:prstGeom>
            <a:noFill/>
            <a:ln w="9525">
              <a:solidFill>
                <a:srgbClr val="000000"/>
              </a:solidFill>
              <a:round/>
              <a:headEnd type="triangle" w="med" len="med"/>
              <a:tailEnd type="triangle" w="med" len="med"/>
            </a:ln>
            <a:effectLst/>
          </p:spPr>
          <p:txBody>
            <a:bodyPr wrap="none" anchor="ctr"/>
            <a:lstStyle/>
            <a:p>
              <a:endParaRPr lang="id-ID">
                <a:solidFill>
                  <a:srgbClr val="000000"/>
                </a:solidFill>
              </a:endParaRPr>
            </a:p>
          </p:txBody>
        </p:sp>
        <p:sp>
          <p:nvSpPr>
            <p:cNvPr id="761868" name="Line 12"/>
            <p:cNvSpPr>
              <a:spLocks noChangeShapeType="1"/>
            </p:cNvSpPr>
            <p:nvPr/>
          </p:nvSpPr>
          <p:spPr bwMode="auto">
            <a:xfrm>
              <a:off x="1824" y="3500"/>
              <a:ext cx="1200" cy="0"/>
            </a:xfrm>
            <a:prstGeom prst="line">
              <a:avLst/>
            </a:prstGeom>
            <a:noFill/>
            <a:ln w="9525">
              <a:solidFill>
                <a:srgbClr val="000000"/>
              </a:solidFill>
              <a:round/>
              <a:headEnd type="triangle" w="med" len="med"/>
              <a:tailEnd type="triangle" w="med" len="med"/>
            </a:ln>
            <a:effectLst/>
          </p:spPr>
          <p:txBody>
            <a:bodyPr wrap="none" anchor="ctr"/>
            <a:lstStyle/>
            <a:p>
              <a:endParaRPr lang="id-ID">
                <a:solidFill>
                  <a:srgbClr val="000000"/>
                </a:solidFill>
              </a:endParaRPr>
            </a:p>
          </p:txBody>
        </p:sp>
        <p:sp>
          <p:nvSpPr>
            <p:cNvPr id="761869" name="Line 13"/>
            <p:cNvSpPr>
              <a:spLocks noChangeShapeType="1"/>
            </p:cNvSpPr>
            <p:nvPr/>
          </p:nvSpPr>
          <p:spPr bwMode="auto">
            <a:xfrm>
              <a:off x="3024" y="3500"/>
              <a:ext cx="288" cy="0"/>
            </a:xfrm>
            <a:prstGeom prst="line">
              <a:avLst/>
            </a:prstGeom>
            <a:noFill/>
            <a:ln w="9525">
              <a:solidFill>
                <a:srgbClr val="000000"/>
              </a:solidFill>
              <a:round/>
              <a:headEnd type="triangle" w="med" len="med"/>
              <a:tailEnd type="triangle" w="med" len="med"/>
            </a:ln>
            <a:effectLst/>
          </p:spPr>
          <p:txBody>
            <a:bodyPr wrap="none" anchor="ctr"/>
            <a:lstStyle/>
            <a:p>
              <a:endParaRPr lang="id-ID">
                <a:solidFill>
                  <a:srgbClr val="000000"/>
                </a:solidFill>
              </a:endParaRPr>
            </a:p>
          </p:txBody>
        </p:sp>
        <p:sp>
          <p:nvSpPr>
            <p:cNvPr id="761870" name="Line 14"/>
            <p:cNvSpPr>
              <a:spLocks noChangeShapeType="1"/>
            </p:cNvSpPr>
            <p:nvPr/>
          </p:nvSpPr>
          <p:spPr bwMode="auto">
            <a:xfrm>
              <a:off x="3312" y="3500"/>
              <a:ext cx="576" cy="0"/>
            </a:xfrm>
            <a:prstGeom prst="line">
              <a:avLst/>
            </a:prstGeom>
            <a:noFill/>
            <a:ln w="9525">
              <a:solidFill>
                <a:srgbClr val="000000"/>
              </a:solidFill>
              <a:round/>
              <a:headEnd type="triangle" w="med" len="med"/>
              <a:tailEnd type="triangle" w="med" len="med"/>
            </a:ln>
            <a:effectLst/>
          </p:spPr>
          <p:txBody>
            <a:bodyPr wrap="none" anchor="ctr"/>
            <a:lstStyle/>
            <a:p>
              <a:endParaRPr lang="id-ID">
                <a:solidFill>
                  <a:srgbClr val="000000"/>
                </a:solidFill>
              </a:endParaRPr>
            </a:p>
          </p:txBody>
        </p:sp>
        <p:sp>
          <p:nvSpPr>
            <p:cNvPr id="761871" name="Line 15"/>
            <p:cNvSpPr>
              <a:spLocks noChangeShapeType="1"/>
            </p:cNvSpPr>
            <p:nvPr/>
          </p:nvSpPr>
          <p:spPr bwMode="auto">
            <a:xfrm>
              <a:off x="1824" y="3264"/>
              <a:ext cx="0" cy="709"/>
            </a:xfrm>
            <a:prstGeom prst="line">
              <a:avLst/>
            </a:prstGeom>
            <a:noFill/>
            <a:ln w="9525">
              <a:solidFill>
                <a:srgbClr val="000000"/>
              </a:solidFill>
              <a:round/>
              <a:headEnd/>
              <a:tailEnd/>
            </a:ln>
            <a:effectLst/>
          </p:spPr>
          <p:txBody>
            <a:bodyPr wrap="none" anchor="ctr"/>
            <a:lstStyle/>
            <a:p>
              <a:endParaRPr lang="id-ID">
                <a:solidFill>
                  <a:srgbClr val="000000"/>
                </a:solidFill>
              </a:endParaRPr>
            </a:p>
          </p:txBody>
        </p:sp>
        <p:sp>
          <p:nvSpPr>
            <p:cNvPr id="761872" name="Line 16"/>
            <p:cNvSpPr>
              <a:spLocks noChangeShapeType="1"/>
            </p:cNvSpPr>
            <p:nvPr/>
          </p:nvSpPr>
          <p:spPr bwMode="auto">
            <a:xfrm flipV="1">
              <a:off x="3024" y="3319"/>
              <a:ext cx="0" cy="327"/>
            </a:xfrm>
            <a:prstGeom prst="line">
              <a:avLst/>
            </a:prstGeom>
            <a:noFill/>
            <a:ln w="9525">
              <a:solidFill>
                <a:srgbClr val="000000"/>
              </a:solidFill>
              <a:round/>
              <a:headEnd/>
              <a:tailEnd/>
            </a:ln>
            <a:effectLst/>
          </p:spPr>
          <p:txBody>
            <a:bodyPr wrap="none" anchor="ctr"/>
            <a:lstStyle/>
            <a:p>
              <a:endParaRPr lang="id-ID">
                <a:solidFill>
                  <a:srgbClr val="000000"/>
                </a:solidFill>
              </a:endParaRPr>
            </a:p>
          </p:txBody>
        </p:sp>
        <p:sp>
          <p:nvSpPr>
            <p:cNvPr id="761873" name="Line 17"/>
            <p:cNvSpPr>
              <a:spLocks noChangeShapeType="1"/>
            </p:cNvSpPr>
            <p:nvPr/>
          </p:nvSpPr>
          <p:spPr bwMode="auto">
            <a:xfrm flipV="1">
              <a:off x="3312" y="3319"/>
              <a:ext cx="0" cy="327"/>
            </a:xfrm>
            <a:prstGeom prst="line">
              <a:avLst/>
            </a:prstGeom>
            <a:noFill/>
            <a:ln w="9525">
              <a:solidFill>
                <a:srgbClr val="000000"/>
              </a:solidFill>
              <a:round/>
              <a:headEnd/>
              <a:tailEnd/>
            </a:ln>
            <a:effectLst/>
          </p:spPr>
          <p:txBody>
            <a:bodyPr wrap="none" anchor="ctr"/>
            <a:lstStyle/>
            <a:p>
              <a:endParaRPr lang="id-ID">
                <a:solidFill>
                  <a:srgbClr val="000000"/>
                </a:solidFill>
              </a:endParaRPr>
            </a:p>
          </p:txBody>
        </p:sp>
        <p:sp>
          <p:nvSpPr>
            <p:cNvPr id="761874" name="Line 18"/>
            <p:cNvSpPr>
              <a:spLocks noChangeShapeType="1"/>
            </p:cNvSpPr>
            <p:nvPr/>
          </p:nvSpPr>
          <p:spPr bwMode="auto">
            <a:xfrm>
              <a:off x="3888" y="3264"/>
              <a:ext cx="0" cy="709"/>
            </a:xfrm>
            <a:prstGeom prst="line">
              <a:avLst/>
            </a:prstGeom>
            <a:noFill/>
            <a:ln w="9525">
              <a:solidFill>
                <a:srgbClr val="000000"/>
              </a:solidFill>
              <a:round/>
              <a:headEnd/>
              <a:tailEnd/>
            </a:ln>
            <a:effectLst/>
          </p:spPr>
          <p:txBody>
            <a:bodyPr wrap="none" anchor="ctr"/>
            <a:lstStyle/>
            <a:p>
              <a:endParaRPr lang="id-ID">
                <a:solidFill>
                  <a:srgbClr val="000000"/>
                </a:solidFill>
              </a:endParaRPr>
            </a:p>
          </p:txBody>
        </p:sp>
      </p:grpSp>
      <p:grpSp>
        <p:nvGrpSpPr>
          <p:cNvPr id="3" name="Group 19"/>
          <p:cNvGrpSpPr>
            <a:grpSpLocks/>
          </p:cNvGrpSpPr>
          <p:nvPr/>
        </p:nvGrpSpPr>
        <p:grpSpPr bwMode="auto">
          <a:xfrm>
            <a:off x="2514600" y="3048000"/>
            <a:ext cx="4038600" cy="685800"/>
            <a:chOff x="1632" y="1728"/>
            <a:chExt cx="2304" cy="432"/>
          </a:xfrm>
        </p:grpSpPr>
        <p:sp>
          <p:nvSpPr>
            <p:cNvPr id="761876" name="Rectangle 20"/>
            <p:cNvSpPr>
              <a:spLocks noChangeArrowheads="1"/>
            </p:cNvSpPr>
            <p:nvPr/>
          </p:nvSpPr>
          <p:spPr bwMode="auto">
            <a:xfrm>
              <a:off x="1632" y="1728"/>
              <a:ext cx="2304" cy="432"/>
            </a:xfrm>
            <a:prstGeom prst="rect">
              <a:avLst/>
            </a:prstGeom>
            <a:solidFill>
              <a:srgbClr val="FFFFCC"/>
            </a:solidFill>
            <a:ln w="9525">
              <a:solidFill>
                <a:schemeClr val="tx1"/>
              </a:solidFill>
              <a:miter lim="800000"/>
              <a:headEnd/>
              <a:tailEnd/>
            </a:ln>
            <a:effectLst>
              <a:outerShdw dist="107763" dir="2700000" algn="ctr" rotWithShape="0">
                <a:srgbClr val="808080"/>
              </a:outerShdw>
            </a:effectLst>
          </p:spPr>
          <p:txBody>
            <a:bodyPr wrap="none" anchor="ctr"/>
            <a:lstStyle/>
            <a:p>
              <a:endParaRPr lang="id-ID">
                <a:solidFill>
                  <a:srgbClr val="000000"/>
                </a:solidFill>
              </a:endParaRPr>
            </a:p>
          </p:txBody>
        </p:sp>
        <p:sp>
          <p:nvSpPr>
            <p:cNvPr id="761877" name="Text Box 21"/>
            <p:cNvSpPr txBox="1">
              <a:spLocks noChangeArrowheads="1"/>
            </p:cNvSpPr>
            <p:nvPr/>
          </p:nvSpPr>
          <p:spPr bwMode="auto">
            <a:xfrm>
              <a:off x="1680" y="1783"/>
              <a:ext cx="2186" cy="327"/>
            </a:xfrm>
            <a:prstGeom prst="rect">
              <a:avLst/>
            </a:prstGeom>
            <a:solidFill>
              <a:srgbClr val="FFFFCC"/>
            </a:solidFill>
            <a:ln w="9525">
              <a:noFill/>
              <a:miter lim="800000"/>
              <a:headEnd/>
              <a:tailEnd/>
            </a:ln>
            <a:effectLst/>
          </p:spPr>
          <p:txBody>
            <a:bodyPr wrap="none">
              <a:spAutoFit/>
            </a:bodyPr>
            <a:lstStyle/>
            <a:p>
              <a:r>
                <a:rPr lang="en-US" sz="2800">
                  <a:solidFill>
                    <a:srgbClr val="000000"/>
                  </a:solidFill>
                  <a:latin typeface="Times New Roman" pitchFamily="18" charset="0"/>
                </a:rPr>
                <a:t>(A   B)     (C)        (D   E)</a:t>
              </a:r>
            </a:p>
          </p:txBody>
        </p:sp>
      </p:grpSp>
      <p:sp>
        <p:nvSpPr>
          <p:cNvPr id="761878" name="Line 22"/>
          <p:cNvSpPr>
            <a:spLocks noChangeShapeType="1"/>
          </p:cNvSpPr>
          <p:nvPr/>
        </p:nvSpPr>
        <p:spPr bwMode="auto">
          <a:xfrm>
            <a:off x="4724400" y="3429000"/>
            <a:ext cx="457200" cy="0"/>
          </a:xfrm>
          <a:prstGeom prst="line">
            <a:avLst/>
          </a:prstGeom>
          <a:ln>
            <a:headEnd/>
            <a:tailEnd type="stealth" w="med" len="med"/>
          </a:ln>
        </p:spPr>
        <p:style>
          <a:lnRef idx="2">
            <a:schemeClr val="accent5"/>
          </a:lnRef>
          <a:fillRef idx="0">
            <a:schemeClr val="accent5"/>
          </a:fillRef>
          <a:effectRef idx="1">
            <a:schemeClr val="accent5"/>
          </a:effectRef>
          <a:fontRef idx="minor">
            <a:schemeClr val="tx1"/>
          </a:fontRef>
        </p:style>
        <p:txBody>
          <a:bodyPr wrap="none" anchor="ctr"/>
          <a:lstStyle/>
          <a:p>
            <a:endParaRPr lang="id-ID"/>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4930" name="Rectangle 2"/>
          <p:cNvSpPr>
            <a:spLocks noGrp="1" noChangeArrowheads="1"/>
          </p:cNvSpPr>
          <p:nvPr>
            <p:ph type="title"/>
          </p:nvPr>
        </p:nvSpPr>
        <p:spPr/>
        <p:txBody>
          <a:bodyPr/>
          <a:lstStyle/>
          <a:p>
            <a:r>
              <a:rPr lang="en-US"/>
              <a:t>Regression</a:t>
            </a:r>
          </a:p>
        </p:txBody>
      </p:sp>
      <p:sp>
        <p:nvSpPr>
          <p:cNvPr id="764931" name="Rectangle 3"/>
          <p:cNvSpPr>
            <a:spLocks noGrp="1" noChangeArrowheads="1"/>
          </p:cNvSpPr>
          <p:nvPr>
            <p:ph idx="1"/>
          </p:nvPr>
        </p:nvSpPr>
        <p:spPr>
          <a:xfrm>
            <a:off x="381000" y="1219200"/>
            <a:ext cx="8229600" cy="4286250"/>
          </a:xfrm>
        </p:spPr>
        <p:txBody>
          <a:bodyPr/>
          <a:lstStyle/>
          <a:p>
            <a:pPr marL="342900" indent="-342900"/>
            <a:r>
              <a:rPr lang="en-US" sz="2400"/>
              <a:t>Predict a value of a given continuous valued variable based on the values of other variables, assuming a linear or nonlinear model of dependency.</a:t>
            </a:r>
          </a:p>
          <a:p>
            <a:pPr marL="342900" indent="-342900"/>
            <a:r>
              <a:rPr lang="en-US" sz="2400"/>
              <a:t>Greatly studied in statistics, neural network fields.</a:t>
            </a:r>
          </a:p>
          <a:p>
            <a:pPr marL="342900" indent="-342900"/>
            <a:r>
              <a:rPr lang="en-US" sz="2400"/>
              <a:t>Examples:</a:t>
            </a:r>
          </a:p>
          <a:p>
            <a:pPr marL="742950" lvl="1" indent="-285750"/>
            <a:r>
              <a:rPr lang="en-US" sz="2400"/>
              <a:t>Predicting sales amounts of new product based on advetising expenditure.</a:t>
            </a:r>
          </a:p>
          <a:p>
            <a:pPr marL="742950" lvl="1" indent="-285750"/>
            <a:r>
              <a:rPr lang="en-US" sz="2400"/>
              <a:t>Predicting wind velocities as a function of temperature, humidity, air pressure, etc.</a:t>
            </a:r>
          </a:p>
          <a:p>
            <a:pPr marL="742950" lvl="1" indent="-285750"/>
            <a:r>
              <a:rPr lang="en-US" sz="2400"/>
              <a:t>Time series prediction of stock market indices.</a:t>
            </a:r>
            <a:endParaRPr lang="en-US" sz="320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2770" name="Rectangle 2"/>
          <p:cNvSpPr>
            <a:spLocks noGrp="1" noChangeArrowheads="1"/>
          </p:cNvSpPr>
          <p:nvPr>
            <p:ph type="title"/>
          </p:nvPr>
        </p:nvSpPr>
        <p:spPr>
          <a:xfrm>
            <a:off x="228600" y="228600"/>
            <a:ext cx="8763000" cy="533400"/>
          </a:xfrm>
        </p:spPr>
        <p:txBody>
          <a:bodyPr>
            <a:normAutofit fontScale="90000"/>
          </a:bodyPr>
          <a:lstStyle/>
          <a:p>
            <a:r>
              <a:rPr lang="en-US"/>
              <a:t>Deviation/Anomaly Detection</a:t>
            </a:r>
          </a:p>
        </p:txBody>
      </p:sp>
      <p:sp>
        <p:nvSpPr>
          <p:cNvPr id="672771" name="Rectangle 3"/>
          <p:cNvSpPr>
            <a:spLocks noGrp="1" noChangeArrowheads="1"/>
          </p:cNvSpPr>
          <p:nvPr>
            <p:ph idx="1"/>
          </p:nvPr>
        </p:nvSpPr>
        <p:spPr>
          <a:xfrm>
            <a:off x="228600" y="1066800"/>
            <a:ext cx="8915400" cy="5105400"/>
          </a:xfrm>
        </p:spPr>
        <p:txBody>
          <a:bodyPr/>
          <a:lstStyle/>
          <a:p>
            <a:r>
              <a:rPr lang="en-US"/>
              <a:t>Detect significant deviations from normal behavior</a:t>
            </a:r>
            <a:endParaRPr lang="en-US" sz="3200"/>
          </a:p>
          <a:p>
            <a:r>
              <a:rPr lang="en-US"/>
              <a:t>Applications:</a:t>
            </a:r>
          </a:p>
          <a:p>
            <a:pPr lvl="1"/>
            <a:r>
              <a:rPr lang="en-US"/>
              <a:t>Credit Card Fraud Detection</a:t>
            </a:r>
          </a:p>
          <a:p>
            <a:pPr lvl="1"/>
            <a:endParaRPr lang="en-US"/>
          </a:p>
          <a:p>
            <a:pPr lvl="1"/>
            <a:endParaRPr lang="en-US"/>
          </a:p>
          <a:p>
            <a:pPr lvl="1"/>
            <a:r>
              <a:rPr lang="en-US"/>
              <a:t>Network Intrusion </a:t>
            </a:r>
            <a:br>
              <a:rPr lang="en-US"/>
            </a:br>
            <a:r>
              <a:rPr lang="en-US"/>
              <a:t>Detection</a:t>
            </a:r>
          </a:p>
          <a:p>
            <a:pPr lvl="1"/>
            <a:endParaRPr lang="en-US"/>
          </a:p>
        </p:txBody>
      </p:sp>
      <p:pic>
        <p:nvPicPr>
          <p:cNvPr id="672775" name="Picture 7"/>
          <p:cNvPicPr>
            <a:picLocks noChangeAspect="1" noChangeArrowheads="1"/>
          </p:cNvPicPr>
          <p:nvPr/>
        </p:nvPicPr>
        <p:blipFill>
          <a:blip r:embed="rId4"/>
          <a:srcRect/>
          <a:stretch>
            <a:fillRect/>
          </a:stretch>
        </p:blipFill>
        <p:spPr bwMode="auto">
          <a:xfrm>
            <a:off x="5981700" y="3922713"/>
            <a:ext cx="3162300" cy="1711325"/>
          </a:xfrm>
          <a:prstGeom prst="rect">
            <a:avLst/>
          </a:prstGeom>
          <a:noFill/>
          <a:ln w="9525">
            <a:noFill/>
            <a:miter lim="800000"/>
            <a:headEnd/>
            <a:tailEnd/>
          </a:ln>
        </p:spPr>
      </p:pic>
      <p:grpSp>
        <p:nvGrpSpPr>
          <p:cNvPr id="2" name="Group 8"/>
          <p:cNvGrpSpPr>
            <a:grpSpLocks/>
          </p:cNvGrpSpPr>
          <p:nvPr/>
        </p:nvGrpSpPr>
        <p:grpSpPr bwMode="auto">
          <a:xfrm>
            <a:off x="4818063" y="4013200"/>
            <a:ext cx="2605087" cy="2387600"/>
            <a:chOff x="2963" y="2441"/>
            <a:chExt cx="1641" cy="1504"/>
          </a:xfrm>
        </p:grpSpPr>
        <p:pic>
          <p:nvPicPr>
            <p:cNvPr id="672777" name="Picture 9"/>
            <p:cNvPicPr>
              <a:picLocks noChangeAspect="1" noChangeArrowheads="1"/>
            </p:cNvPicPr>
            <p:nvPr/>
          </p:nvPicPr>
          <p:blipFill>
            <a:blip r:embed="rId5"/>
            <a:srcRect/>
            <a:stretch>
              <a:fillRect/>
            </a:stretch>
          </p:blipFill>
          <p:spPr bwMode="auto">
            <a:xfrm>
              <a:off x="2963" y="2441"/>
              <a:ext cx="1641" cy="1504"/>
            </a:xfrm>
            <a:prstGeom prst="rect">
              <a:avLst/>
            </a:prstGeom>
            <a:noFill/>
            <a:ln w="9525">
              <a:noFill/>
              <a:miter lim="800000"/>
              <a:headEnd/>
              <a:tailEnd/>
            </a:ln>
          </p:spPr>
        </p:pic>
        <p:pic>
          <p:nvPicPr>
            <p:cNvPr id="672778" name="Picture 10"/>
            <p:cNvPicPr>
              <a:picLocks noChangeAspect="1" noChangeArrowheads="1"/>
            </p:cNvPicPr>
            <p:nvPr/>
          </p:nvPicPr>
          <p:blipFill>
            <a:blip r:embed="rId6"/>
            <a:srcRect/>
            <a:stretch>
              <a:fillRect/>
            </a:stretch>
          </p:blipFill>
          <p:spPr bwMode="auto">
            <a:xfrm>
              <a:off x="2963" y="2441"/>
              <a:ext cx="1641" cy="1504"/>
            </a:xfrm>
            <a:prstGeom prst="rect">
              <a:avLst/>
            </a:prstGeom>
            <a:noFill/>
            <a:ln w="9525">
              <a:noFill/>
              <a:miter lim="800000"/>
              <a:headEnd/>
              <a:tailEnd/>
            </a:ln>
          </p:spPr>
        </p:pic>
      </p:grpSp>
      <p:pic>
        <p:nvPicPr>
          <p:cNvPr id="672779" name="Picture 11"/>
          <p:cNvPicPr>
            <a:picLocks noChangeAspect="1" noChangeArrowheads="1"/>
          </p:cNvPicPr>
          <p:nvPr/>
        </p:nvPicPr>
        <p:blipFill>
          <a:blip r:embed="rId7"/>
          <a:srcRect/>
          <a:stretch>
            <a:fillRect/>
          </a:stretch>
        </p:blipFill>
        <p:spPr bwMode="auto">
          <a:xfrm>
            <a:off x="4119563" y="3886200"/>
            <a:ext cx="1922462" cy="1266825"/>
          </a:xfrm>
          <a:prstGeom prst="rect">
            <a:avLst/>
          </a:prstGeom>
          <a:noFill/>
          <a:ln w="9525">
            <a:noFill/>
            <a:miter lim="800000"/>
            <a:headEnd/>
            <a:tailEnd/>
          </a:ln>
        </p:spPr>
      </p:pic>
      <p:sp>
        <p:nvSpPr>
          <p:cNvPr id="672780" name="Text Box 12"/>
          <p:cNvSpPr txBox="1">
            <a:spLocks noChangeArrowheads="1"/>
          </p:cNvSpPr>
          <p:nvPr/>
        </p:nvSpPr>
        <p:spPr bwMode="auto">
          <a:xfrm>
            <a:off x="228600" y="5715000"/>
            <a:ext cx="8305800" cy="581025"/>
          </a:xfrm>
          <a:prstGeom prst="rect">
            <a:avLst/>
          </a:prstGeom>
          <a:noFill/>
          <a:ln w="12700">
            <a:noFill/>
            <a:miter lim="800000"/>
            <a:headEnd/>
            <a:tailEnd/>
          </a:ln>
          <a:effectLst/>
        </p:spPr>
        <p:txBody>
          <a:bodyPr lIns="0" rIns="0">
            <a:spAutoFit/>
          </a:bodyPr>
          <a:lstStyle/>
          <a:p>
            <a:pPr marL="342900" indent="-342900" algn="ctr">
              <a:spcBef>
                <a:spcPct val="20000"/>
              </a:spcBef>
              <a:buClr>
                <a:schemeClr val="accent2"/>
              </a:buClr>
              <a:buSzPct val="75000"/>
              <a:buFont typeface="Monotype Sorts" pitchFamily="2" charset="2"/>
              <a:buNone/>
            </a:pPr>
            <a:r>
              <a:rPr lang="en-US" sz="1600" b="0" i="1">
                <a:latin typeface="Helvetica" pitchFamily="34" charset="0"/>
              </a:rPr>
              <a:t>						</a:t>
            </a:r>
            <a:br>
              <a:rPr lang="en-US" sz="1600" b="0" i="1">
                <a:latin typeface="Helvetica" pitchFamily="34" charset="0"/>
              </a:rPr>
            </a:br>
            <a:r>
              <a:rPr lang="en-US" sz="1600" b="0" i="1">
                <a:latin typeface="Helvetica" pitchFamily="34" charset="0"/>
              </a:rPr>
              <a:t>Typical network traffic at University level may reach over 100 million connections per day</a:t>
            </a:r>
            <a:endParaRPr lang="en-US" sz="2400" b="0">
              <a:latin typeface="Times New Roman" pitchFamily="18" charset="0"/>
            </a:endParaRPr>
          </a:p>
        </p:txBody>
      </p:sp>
      <p:graphicFrame>
        <p:nvGraphicFramePr>
          <p:cNvPr id="672781" name="Object 13"/>
          <p:cNvGraphicFramePr>
            <a:graphicFrameLocks noChangeAspect="1"/>
          </p:cNvGraphicFramePr>
          <p:nvPr/>
        </p:nvGraphicFramePr>
        <p:xfrm>
          <a:off x="5791200" y="1851025"/>
          <a:ext cx="3124200" cy="1882775"/>
        </p:xfrm>
        <a:graphic>
          <a:graphicData uri="http://schemas.openxmlformats.org/presentationml/2006/ole">
            <mc:AlternateContent xmlns:mc="http://schemas.openxmlformats.org/markup-compatibility/2006">
              <mc:Choice xmlns:v="urn:schemas-microsoft-com:vml" Requires="v">
                <p:oleObj spid="_x0000_s29699" name="VISIO" r:id="rId8" imgW="2904480" imgH="1751760" progId="Visio.Drawing.11">
                  <p:embed/>
                </p:oleObj>
              </mc:Choice>
              <mc:Fallback>
                <p:oleObj name="VISIO" r:id="rId8" imgW="2904480" imgH="1751760" progId="Visio.Drawing.11">
                  <p:embed/>
                  <p:pic>
                    <p:nvPicPr>
                      <p:cNvPr id="0" name="Picture 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791200" y="1851025"/>
                        <a:ext cx="3124200" cy="1882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dirty="0"/>
              <a:t>Tugas</a:t>
            </a:r>
          </a:p>
        </p:txBody>
      </p:sp>
      <p:sp>
        <p:nvSpPr>
          <p:cNvPr id="3" name="Content Placeholder 2"/>
          <p:cNvSpPr>
            <a:spLocks noGrp="1"/>
          </p:cNvSpPr>
          <p:nvPr>
            <p:ph idx="1"/>
          </p:nvPr>
        </p:nvSpPr>
        <p:spPr/>
        <p:txBody>
          <a:bodyPr/>
          <a:lstStyle/>
          <a:p>
            <a:r>
              <a:rPr lang="id-ID" dirty="0"/>
              <a:t>Diskusikan dengan temanmu, aplikasi-aplikasi apa saja yang memanfaatkan data mining. Kemudian jelaskan aplikasi tersebut serta task data mining yang digunakan! Tiap mahasiswa harus menyebutkan 1 aplikasi beserta deskripsinya.</a:t>
            </a:r>
          </a:p>
          <a:p>
            <a:r>
              <a:rPr lang="id-ID" dirty="0"/>
              <a:t>Laporkan hasil temuannya pada pertemuan 2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199</TotalTime>
  <Words>1075</Words>
  <Application>Microsoft Office PowerPoint</Application>
  <PresentationFormat>On-screen Show (4:3)</PresentationFormat>
  <Paragraphs>163</Paragraphs>
  <Slides>29</Slides>
  <Notes>5</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3</vt:i4>
      </vt:variant>
      <vt:variant>
        <vt:lpstr>Slide Titles</vt:lpstr>
      </vt:variant>
      <vt:variant>
        <vt:i4>29</vt:i4>
      </vt:variant>
    </vt:vector>
  </HeadingPairs>
  <TitlesOfParts>
    <vt:vector size="40" baseType="lpstr">
      <vt:lpstr>Arial</vt:lpstr>
      <vt:lpstr>Calibri</vt:lpstr>
      <vt:lpstr>Helvetica</vt:lpstr>
      <vt:lpstr>Impact</vt:lpstr>
      <vt:lpstr>Monotype Sorts</vt:lpstr>
      <vt:lpstr>Tahoma</vt:lpstr>
      <vt:lpstr>Times New Roman</vt:lpstr>
      <vt:lpstr>Office Theme</vt:lpstr>
      <vt:lpstr>Visio</vt:lpstr>
      <vt:lpstr>VISIO</vt:lpstr>
      <vt:lpstr>Document</vt:lpstr>
      <vt:lpstr>Applied Database III</vt:lpstr>
      <vt:lpstr>Grup LINE</vt:lpstr>
      <vt:lpstr>CPMK</vt:lpstr>
      <vt:lpstr>Matkul prasyarat</vt:lpstr>
      <vt:lpstr>Matkul Dasar</vt:lpstr>
      <vt:lpstr>Referensi</vt:lpstr>
      <vt:lpstr>Aturan Perkuliahan</vt:lpstr>
      <vt:lpstr>Komponen Penilaian</vt:lpstr>
      <vt:lpstr>Materi</vt:lpstr>
      <vt:lpstr>Penunjang Mata Kuliah untuk Praktikum</vt:lpstr>
      <vt:lpstr>Materi Kuliah Hari ini</vt:lpstr>
      <vt:lpstr>Capaian Pembelajaran materi hari ini</vt:lpstr>
      <vt:lpstr>Data Mining</vt:lpstr>
      <vt:lpstr>Perhatikan...</vt:lpstr>
      <vt:lpstr>What is Data Mining?</vt:lpstr>
      <vt:lpstr>Knowledge Discovery in the old days</vt:lpstr>
      <vt:lpstr>Nowadays…</vt:lpstr>
      <vt:lpstr>What is (not) Data Mining?</vt:lpstr>
      <vt:lpstr>Data Mining Tasks</vt:lpstr>
      <vt:lpstr>Data Mining Tasks...</vt:lpstr>
      <vt:lpstr>Classification: Definition</vt:lpstr>
      <vt:lpstr>Classification Example</vt:lpstr>
      <vt:lpstr>Clustering Definition</vt:lpstr>
      <vt:lpstr>Illustrating Clustering</vt:lpstr>
      <vt:lpstr>Association Rule Discovery: Definition</vt:lpstr>
      <vt:lpstr>Sequential Pattern Discovery: Definition</vt:lpstr>
      <vt:lpstr>Regression</vt:lpstr>
      <vt:lpstr>Deviation/Anomaly Detection</vt:lpstr>
      <vt:lpstr>Tugas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Mining</dc:title>
  <dc:creator>hp</dc:creator>
  <cp:lastModifiedBy>User</cp:lastModifiedBy>
  <cp:revision>9</cp:revision>
  <dcterms:created xsi:type="dcterms:W3CDTF">2021-09-05T07:00:21Z</dcterms:created>
  <dcterms:modified xsi:type="dcterms:W3CDTF">2025-02-15T10:59:22Z</dcterms:modified>
</cp:coreProperties>
</file>